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41E8F58-3C20-40A9-A1D8-D20CB19FFA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2DD1F5E-8195-4837-99A1-AEE21D2184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73023EB-F9ED-4047-BC13-177BA28247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16BEF99-14AC-422A-94DF-900B79732D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944A061-B336-44E4-9411-7679F8641E7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49BBB21C-FE6D-48E8-958A-71CDF0B311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F8F5A22-F82E-4D85-8CAD-C425DEA298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32782A4-6C45-49E3-89B6-8D6480D934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E746F73-03CC-4759-AB60-33F07FAB448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F077741-0F5D-48EF-874C-63923DEC4E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634DE71-1A35-42EF-BFD1-D9AC75E696A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041716C-ACB1-4FD2-B8A1-C4C9BE423A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4221C7-677E-4F9B-A2DA-57DA34B6D40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DE8512-9AED-4857-AA44-BC7A23370B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D31909-068C-446A-BBF8-64A07C994B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77C3923-4FE7-4C2D-9DFC-25D4BB1240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DC8B1A0-BDD6-4181-8A10-2F1FA0EF7FE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688F2F-215F-4900-B54E-E4A71D5BC5C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B56600-0775-448B-BBE1-69035A5807C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48566F-7993-43B1-8EFB-DF6BDAFA7DE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58D4F4-FBC7-4819-A6BC-459AA69A85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320A85-0297-43C6-811E-562E0BE246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2560320"/>
            <a:ext cx="9143640" cy="2011320"/>
          </a:xfrm>
          <a:prstGeom prst="rect">
            <a:avLst/>
          </a:prstGeom>
          <a:solidFill>
            <a:srgbClr val="2e6d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457200" y="914400"/>
            <a:ext cx="8229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ERA5-Based Extreme Wind Analysis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1874520"/>
            <a:ext cx="82292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700" spc="-1" strike="noStrike">
                <a:solidFill>
                  <a:srgbClr val="bbccdd"/>
                </a:solidFill>
                <a:latin typeface="Calibri"/>
              </a:rPr>
              <a:t>Preliminary Pipeline: Hub-Height Extrapolation &amp; Extreme-Value Methods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697480"/>
            <a:ext cx="82292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</a:rPr>
              <a:t>PhD Supervisor Meeting  ·  March 2026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246120"/>
            <a:ext cx="82292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/>
            <a:r>
              <a:rPr b="0" lang="en-US" sz="1300" spc="-1" strike="noStrike">
                <a:solidFill>
                  <a:srgbClr val="ccddee"/>
                </a:solidFill>
                <a:latin typeface="Calibri"/>
              </a:rPr>
              <a:t>Data: ERA5 reanalysis (1950–1975 subset)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ccddee"/>
                </a:solidFill>
                <a:latin typeface="Calibri"/>
              </a:rPr>
              <a:t>Target: IEA 15 MW offshore turbine, Northern North Sea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6263640"/>
            <a:ext cx="8229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Objective &amp; Current Status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Replication target + ERA5 climate-data pipeline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365760" y="1371600"/>
            <a:ext cx="8412120" cy="17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e6da4"/>
                </a:solidFill>
                <a:latin typeface="Calibri"/>
              </a:rPr>
              <a:t>Why this work?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Replication target: Chai et al. (2024) — short-term extreme structural responses for IEA 15 MW under extreme environmental conditions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In parallel: building an ERA5 climate-data pipeline to replace stationary environmental conditions with time-evolving ERA5 statistics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Goal: quantify how environmental extremes (and downstream structural extremes) shift across the ERA5 record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5"/>
          <p:cNvSpPr/>
          <p:nvPr/>
        </p:nvSpPr>
        <p:spPr>
          <a:xfrm>
            <a:off x="365760" y="3246120"/>
            <a:ext cx="8412120" cy="36360"/>
          </a:xfrm>
          <a:prstGeom prst="rect">
            <a:avLst/>
          </a:prstGeom>
          <a:solidFill>
            <a:srgbClr val="2e6d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365760" y="3383280"/>
            <a:ext cx="8412120" cy="10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e6da4"/>
                </a:solidFill>
                <a:latin typeface="Calibri"/>
              </a:rPr>
              <a:t>Current status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ERA5 subset processed:  1950-01-01 → 1975-06-30  (~25.5 years, 306 monthly files)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Variables available now:  u10, v10, u100, v100,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500" spc="-1" strike="noStrike">
                <a:solidFill>
                  <a:srgbClr val="222222"/>
                </a:solidFill>
                <a:latin typeface="Calibri"/>
              </a:rPr>
              <a:t>Today's demo: hub-height extrapolation + five extreme-value methods on real ERA5 data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Hub-Height Conversion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Paper-consistent power-law extrapolation to 150 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4"/>
          <p:cNvSpPr/>
          <p:nvPr/>
        </p:nvSpPr>
        <p:spPr>
          <a:xfrm>
            <a:off x="365760" y="1417320"/>
            <a:ext cx="5303160" cy="14169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502920" y="1508760"/>
            <a:ext cx="50288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700" spc="-1" strike="noStrike">
                <a:solidFill>
                  <a:srgbClr val="1a375e"/>
                </a:solidFill>
                <a:latin typeface="Calibri"/>
              </a:rPr>
              <a:t>U_hub(1h)  =  U₁₀ × (z_hub / 10)^α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1a375e"/>
                </a:solidFill>
                <a:latin typeface="Calibri"/>
              </a:rPr>
              <a:t>V_hub(10min)  =  1.10 × U_hub(1h)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6"/>
          <p:cNvSpPr/>
          <p:nvPr/>
        </p:nvSpPr>
        <p:spPr>
          <a:xfrm>
            <a:off x="5852160" y="1417320"/>
            <a:ext cx="30628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Hub height: 150 m (IEA 15 MW reference turbine)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Power-law exponent: α = 0.11  (IEC-style, as used in Chai et al. 2024)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10-min scaling factor: ×1.10 applied after hub-height conversion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365760" y="2971800"/>
            <a:ext cx="8412120" cy="12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e6da4"/>
                </a:solidFill>
                <a:latin typeface="Calibri"/>
              </a:rPr>
              <a:t>Why these choices?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Staying strictly aligned with paper assumptions in this first pass isolates one variable at a time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Later sensitivity test: replace α = 0.11 with dynamic shear computed from the u10/u100 pair — ERA5 provides both levels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400" spc="-1" strike="noStrike">
                <a:solidFill>
                  <a:srgbClr val="222222"/>
                </a:solidFill>
                <a:latin typeface="Calibri"/>
              </a:rPr>
              <a:t>Gives paper-consistent V_hub that can feed both the environmental contour work and turbine load studies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8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Time-Series Structure of Hub-Height Wind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Monthly maxima and annual maxima of area-mean V_hub (10-min equivalent)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Picture 4" descr="fig_timeseries_vhub.png"/>
          <p:cNvPicPr/>
          <p:nvPr/>
        </p:nvPicPr>
        <p:blipFill>
          <a:blip r:embed="rId1"/>
          <a:stretch/>
        </p:blipFill>
        <p:spPr>
          <a:xfrm>
            <a:off x="274320" y="1325880"/>
            <a:ext cx="4297320" cy="15624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5" descr="fig_annual_maxima.png"/>
          <p:cNvPicPr/>
          <p:nvPr/>
        </p:nvPicPr>
        <p:blipFill>
          <a:blip r:embed="rId2"/>
          <a:stretch/>
        </p:blipFill>
        <p:spPr>
          <a:xfrm>
            <a:off x="4663440" y="1325880"/>
            <a:ext cx="4297320" cy="1909800"/>
          </a:xfrm>
          <a:prstGeom prst="rect">
            <a:avLst/>
          </a:prstGeom>
          <a:ln w="0">
            <a:noFill/>
          </a:ln>
        </p:spPr>
      </p:pic>
      <p:sp>
        <p:nvSpPr>
          <p:cNvPr id="94" name="TextBox 6"/>
          <p:cNvSpPr/>
          <p:nvPr/>
        </p:nvSpPr>
        <p:spPr>
          <a:xfrm>
            <a:off x="365760" y="5440680"/>
            <a:ext cx="841212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Monthly maxima (left): diagnostic check — confirms repeated high-end excursions, no obvious discontinuities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Annual maxima (right): 26 block-maxima for GEV/Gumbel fitting — magnitudes stable, no dramatic trend visible on this subset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Caveat: 26 annual maxima → substantial uncertainty in 50-year and 100-year return levels; longer record needed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265920" y="4087080"/>
            <a:ext cx="180720" cy="23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Five Extreme-Value Methods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Quantifying model-form uncertainty before committing to one approach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4"/>
          <p:cNvSpPr/>
          <p:nvPr/>
        </p:nvSpPr>
        <p:spPr>
          <a:xfrm>
            <a:off x="274320" y="1417320"/>
            <a:ext cx="3291480" cy="6213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5"/>
          <p:cNvSpPr/>
          <p:nvPr/>
        </p:nvSpPr>
        <p:spPr>
          <a:xfrm>
            <a:off x="384120" y="1463040"/>
            <a:ext cx="3108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75e"/>
                </a:solidFill>
                <a:latin typeface="Calibri"/>
              </a:rPr>
              <a:t>Gumbel (block maxima)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384120" y="1719000"/>
            <a:ext cx="3108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Calibri"/>
              </a:rPr>
              <a:t>Classical EVT; simple; used directly in Chai et al. 2024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7"/>
          <p:cNvSpPr/>
          <p:nvPr/>
        </p:nvSpPr>
        <p:spPr>
          <a:xfrm>
            <a:off x="274320" y="2148840"/>
            <a:ext cx="3291480" cy="6213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384120" y="2194560"/>
            <a:ext cx="3108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75e"/>
                </a:solidFill>
                <a:latin typeface="Calibri"/>
              </a:rPr>
              <a:t>GEV (block maxima)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384120" y="2450520"/>
            <a:ext cx="3108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Calibri"/>
              </a:rPr>
              <a:t>More flexible than Gumbel — shape parameter ξ free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274320" y="2880360"/>
            <a:ext cx="3291480" cy="6213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84120" y="2926080"/>
            <a:ext cx="3108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75e"/>
                </a:solidFill>
                <a:latin typeface="Calibri"/>
              </a:rPr>
              <a:t>POT / GPD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84120" y="3182040"/>
            <a:ext cx="3108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Calibri"/>
              </a:rPr>
              <a:t>Threshold-based EVT; uses more extreme observations than annual maxima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13"/>
          <p:cNvSpPr/>
          <p:nvPr/>
        </p:nvSpPr>
        <p:spPr>
          <a:xfrm>
            <a:off x="274320" y="3611880"/>
            <a:ext cx="3291480" cy="6213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384120" y="3657600"/>
            <a:ext cx="3108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75e"/>
                </a:solidFill>
                <a:latin typeface="Calibri"/>
              </a:rPr>
              <a:t>Weibull (block maxima)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384120" y="3913560"/>
            <a:ext cx="3108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Calibri"/>
              </a:rPr>
              <a:t>Common engineering benchmark for positive wind/load variables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16"/>
          <p:cNvSpPr/>
          <p:nvPr/>
        </p:nvSpPr>
        <p:spPr>
          <a:xfrm>
            <a:off x="274320" y="4343400"/>
            <a:ext cx="3291480" cy="621360"/>
          </a:xfrm>
          <a:prstGeom prst="rect">
            <a:avLst/>
          </a:prstGeom>
          <a:solidFill>
            <a:srgbClr val="ebf3fb"/>
          </a:solidFill>
          <a:ln>
            <a:solidFill>
              <a:srgbClr val="2e6da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384120" y="4389120"/>
            <a:ext cx="3108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75e"/>
                </a:solidFill>
                <a:latin typeface="Calibri"/>
              </a:rPr>
              <a:t>Lognormal (block maxima)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18"/>
          <p:cNvSpPr/>
          <p:nvPr/>
        </p:nvSpPr>
        <p:spPr>
          <a:xfrm>
            <a:off x="384120" y="4645080"/>
            <a:ext cx="3108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222222"/>
                </a:solidFill>
                <a:latin typeface="Calibri"/>
              </a:rPr>
              <a:t>Benchmark for positive-skewed variables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" name="Picture 19" descr="fig_pot_mrl.png"/>
          <p:cNvPicPr/>
          <p:nvPr/>
        </p:nvPicPr>
        <p:blipFill>
          <a:blip r:embed="rId1"/>
          <a:stretch/>
        </p:blipFill>
        <p:spPr>
          <a:xfrm>
            <a:off x="3749040" y="1325880"/>
            <a:ext cx="5120280" cy="2559960"/>
          </a:xfrm>
          <a:prstGeom prst="rect">
            <a:avLst/>
          </a:prstGeom>
          <a:ln w="0">
            <a:noFill/>
          </a:ln>
        </p:spPr>
      </p:pic>
      <p:sp>
        <p:nvSpPr>
          <p:cNvPr id="116" name="TextBox 20"/>
          <p:cNvSpPr/>
          <p:nvPr/>
        </p:nvSpPr>
        <p:spPr>
          <a:xfrm>
            <a:off x="3749040" y="5532120"/>
            <a:ext cx="5120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Mean residual life plot: if mean excess above u is approximately linear → GPD tail is appropriate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Threshold chosen at q = 0.95 → 21.8 m/s; 602 declustered peaks used in GPD fit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Return-Level Estimates — Five Methods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Area-mean V_hub (10-min), ERA5 subset 1950–1975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Rectangle 4"/>
          <p:cNvSpPr/>
          <p:nvPr/>
        </p:nvSpPr>
        <p:spPr>
          <a:xfrm>
            <a:off x="457200" y="1371600"/>
            <a:ext cx="2697120" cy="4384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530280" y="142632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Method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6"/>
          <p:cNvSpPr/>
          <p:nvPr/>
        </p:nvSpPr>
        <p:spPr>
          <a:xfrm>
            <a:off x="3291840" y="1371600"/>
            <a:ext cx="1782720" cy="4384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7"/>
          <p:cNvSpPr/>
          <p:nvPr/>
        </p:nvSpPr>
        <p:spPr>
          <a:xfrm>
            <a:off x="3364920" y="14263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50-yr RL (m/s)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Rectangle 8"/>
          <p:cNvSpPr/>
          <p:nvPr/>
        </p:nvSpPr>
        <p:spPr>
          <a:xfrm>
            <a:off x="5212080" y="1371600"/>
            <a:ext cx="1782720" cy="4384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9"/>
          <p:cNvSpPr/>
          <p:nvPr/>
        </p:nvSpPr>
        <p:spPr>
          <a:xfrm>
            <a:off x="5285160" y="14263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100-yr RL (m/s)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10"/>
          <p:cNvSpPr/>
          <p:nvPr/>
        </p:nvSpPr>
        <p:spPr>
          <a:xfrm>
            <a:off x="457200" y="1810440"/>
            <a:ext cx="26971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11"/>
          <p:cNvSpPr/>
          <p:nvPr/>
        </p:nvSpPr>
        <p:spPr>
          <a:xfrm>
            <a:off x="530280" y="188352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6a1a"/>
                </a:solidFill>
                <a:latin typeface="Calibri"/>
              </a:rPr>
              <a:t>Gumbel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ectangle 12"/>
          <p:cNvSpPr/>
          <p:nvPr/>
        </p:nvSpPr>
        <p:spPr>
          <a:xfrm>
            <a:off x="3291840" y="181044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13"/>
          <p:cNvSpPr/>
          <p:nvPr/>
        </p:nvSpPr>
        <p:spPr>
          <a:xfrm>
            <a:off x="3364920" y="18835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6a1a"/>
                </a:solidFill>
                <a:latin typeface="Calibri"/>
              </a:rPr>
              <a:t>35.26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ectangle 14"/>
          <p:cNvSpPr/>
          <p:nvPr/>
        </p:nvSpPr>
        <p:spPr>
          <a:xfrm>
            <a:off x="5212080" y="181044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15"/>
          <p:cNvSpPr/>
          <p:nvPr/>
        </p:nvSpPr>
        <p:spPr>
          <a:xfrm>
            <a:off x="5285160" y="18835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6a1a"/>
                </a:solidFill>
                <a:latin typeface="Calibri"/>
              </a:rPr>
              <a:t>36.29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ectangle 16"/>
          <p:cNvSpPr/>
          <p:nvPr/>
        </p:nvSpPr>
        <p:spPr>
          <a:xfrm>
            <a:off x="457200" y="2249280"/>
            <a:ext cx="26971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17"/>
          <p:cNvSpPr/>
          <p:nvPr/>
        </p:nvSpPr>
        <p:spPr>
          <a:xfrm>
            <a:off x="530280" y="232272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GEV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3291840" y="2249280"/>
            <a:ext cx="17827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TextBox 19"/>
          <p:cNvSpPr/>
          <p:nvPr/>
        </p:nvSpPr>
        <p:spPr>
          <a:xfrm>
            <a:off x="3364920" y="23227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32.79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5212080" y="2249280"/>
            <a:ext cx="17827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21"/>
          <p:cNvSpPr/>
          <p:nvPr/>
        </p:nvSpPr>
        <p:spPr>
          <a:xfrm>
            <a:off x="5285160" y="232272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32.98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457200" y="2688480"/>
            <a:ext cx="26971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" name="TextBox 23"/>
          <p:cNvSpPr/>
          <p:nvPr/>
        </p:nvSpPr>
        <p:spPr>
          <a:xfrm>
            <a:off x="530280" y="276156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Weibull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3291840" y="268848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25"/>
          <p:cNvSpPr/>
          <p:nvPr/>
        </p:nvSpPr>
        <p:spPr>
          <a:xfrm>
            <a:off x="3364920" y="276156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32.75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5212080" y="268848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27"/>
          <p:cNvSpPr/>
          <p:nvPr/>
        </p:nvSpPr>
        <p:spPr>
          <a:xfrm>
            <a:off x="5285160" y="276156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32.97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457200" y="3127320"/>
            <a:ext cx="26971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29"/>
          <p:cNvSpPr/>
          <p:nvPr/>
        </p:nvSpPr>
        <p:spPr>
          <a:xfrm>
            <a:off x="530280" y="320040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Lognormal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3291840" y="3127320"/>
            <a:ext cx="17827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31"/>
          <p:cNvSpPr/>
          <p:nvPr/>
        </p:nvSpPr>
        <p:spPr>
          <a:xfrm>
            <a:off x="3364920" y="320040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33.34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Rectangle 32"/>
          <p:cNvSpPr/>
          <p:nvPr/>
        </p:nvSpPr>
        <p:spPr>
          <a:xfrm>
            <a:off x="5212080" y="3127320"/>
            <a:ext cx="1782720" cy="43848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33"/>
          <p:cNvSpPr/>
          <p:nvPr/>
        </p:nvSpPr>
        <p:spPr>
          <a:xfrm>
            <a:off x="5285160" y="320040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33.77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Rectangle 34"/>
          <p:cNvSpPr/>
          <p:nvPr/>
        </p:nvSpPr>
        <p:spPr>
          <a:xfrm>
            <a:off x="457200" y="3566160"/>
            <a:ext cx="26971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35"/>
          <p:cNvSpPr/>
          <p:nvPr/>
        </p:nvSpPr>
        <p:spPr>
          <a:xfrm>
            <a:off x="530280" y="3639240"/>
            <a:ext cx="26056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POT / GPD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ectangle 36"/>
          <p:cNvSpPr/>
          <p:nvPr/>
        </p:nvSpPr>
        <p:spPr>
          <a:xfrm>
            <a:off x="3291840" y="356616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37"/>
          <p:cNvSpPr/>
          <p:nvPr/>
        </p:nvSpPr>
        <p:spPr>
          <a:xfrm>
            <a:off x="3364920" y="363924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32.91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38"/>
          <p:cNvSpPr/>
          <p:nvPr/>
        </p:nvSpPr>
        <p:spPr>
          <a:xfrm>
            <a:off x="5212080" y="3566160"/>
            <a:ext cx="1782720" cy="438480"/>
          </a:xfrm>
          <a:prstGeom prst="rect">
            <a:avLst/>
          </a:prstGeom>
          <a:solidFill>
            <a:srgbClr val="ebf3fb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TextBox 39"/>
          <p:cNvSpPr/>
          <p:nvPr/>
        </p:nvSpPr>
        <p:spPr>
          <a:xfrm>
            <a:off x="5285160" y="3639240"/>
            <a:ext cx="16912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33.16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Picture 40" descr="fig_return_levels.png"/>
          <p:cNvPicPr/>
          <p:nvPr/>
        </p:nvPicPr>
        <p:blipFill>
          <a:blip r:embed="rId1"/>
          <a:stretch/>
        </p:blipFill>
        <p:spPr>
          <a:xfrm>
            <a:off x="7178040" y="1325880"/>
            <a:ext cx="1737000" cy="868320"/>
          </a:xfrm>
          <a:prstGeom prst="rect">
            <a:avLst/>
          </a:prstGeom>
          <a:ln w="0">
            <a:noFill/>
          </a:ln>
        </p:spPr>
      </p:pic>
      <p:sp>
        <p:nvSpPr>
          <p:cNvPr id="158" name="TextBox 41"/>
          <p:cNvSpPr/>
          <p:nvPr/>
        </p:nvSpPr>
        <p:spPr>
          <a:xfrm>
            <a:off x="365760" y="4114800"/>
            <a:ext cx="6674760" cy="134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e6da4"/>
                </a:solidFill>
                <a:latin typeface="Calibri"/>
              </a:rPr>
              <a:t>Key takeaway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Gumbel is most conservative (~36.3 m/s at 100 yr); all other methods cluster near ~33 m/s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Spread quantifies model-form uncertainty — motivates testing multiple methods before finalising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Paper uses Gumbel (conservative, transparent) alongside ACER for short-term response extrapolation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42"/>
          <p:cNvSpPr/>
          <p:nvPr/>
        </p:nvSpPr>
        <p:spPr>
          <a:xfrm>
            <a:off x="365760" y="5577840"/>
            <a:ext cx="8412120" cy="36360"/>
          </a:xfrm>
          <a:prstGeom prst="rect">
            <a:avLst/>
          </a:prstGeom>
          <a:solidFill>
            <a:srgbClr val="e86a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43"/>
          <p:cNvSpPr/>
          <p:nvPr/>
        </p:nvSpPr>
        <p:spPr>
          <a:xfrm>
            <a:off x="365760" y="5669280"/>
            <a:ext cx="8412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6a1a"/>
                </a:solidFill>
                <a:latin typeface="Calibri"/>
              </a:rPr>
              <a:t>Caveat: preliminary wind-only values from an incomplete ERA5 subset — not final thesis results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44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1"/>
          <p:cNvSpPr/>
          <p:nvPr/>
        </p:nvSpPr>
        <p:spPr>
          <a:xfrm>
            <a:off x="0" y="0"/>
            <a:ext cx="9143640" cy="123408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2"/>
          <p:cNvSpPr/>
          <p:nvPr/>
        </p:nvSpPr>
        <p:spPr>
          <a:xfrm>
            <a:off x="228600" y="109800"/>
            <a:ext cx="8686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Next Steps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228600" y="713160"/>
            <a:ext cx="8686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bbccdd"/>
                </a:solidFill>
                <a:latin typeface="Calibri"/>
              </a:rPr>
              <a:t>Connecting the ERA5 pipeline to the paper replication and climate-change analysis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4"/>
          <p:cNvSpPr/>
          <p:nvPr/>
        </p:nvSpPr>
        <p:spPr>
          <a:xfrm>
            <a:off x="274320" y="1371600"/>
            <a:ext cx="4160160" cy="347040"/>
          </a:xfrm>
          <a:prstGeom prst="rect">
            <a:avLst/>
          </a:prstGeom>
          <a:solidFill>
            <a:srgbClr val="2e6d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5"/>
          <p:cNvSpPr/>
          <p:nvPr/>
        </p:nvSpPr>
        <p:spPr>
          <a:xfrm>
            <a:off x="347400" y="1408320"/>
            <a:ext cx="4023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Phase 1–3: Data &amp; Environmental Contours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274320" y="1755720"/>
            <a:ext cx="4160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Complete ERA5 download to full target period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Retrieve wave variables (Hs, Tp) for joint wind-wave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Build joint environmental model f(Uw) · f(Hs|Uw) · f(Tp|Hs,Uw)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Generate 100-year IFORM contours and EC selection points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Compare contour shapes/magnitudes against Chai et al. 2024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ectangle 7"/>
          <p:cNvSpPr/>
          <p:nvPr/>
        </p:nvSpPr>
        <p:spPr>
          <a:xfrm>
            <a:off x="4663440" y="1371600"/>
            <a:ext cx="4160160" cy="347040"/>
          </a:xfrm>
          <a:prstGeom prst="rect">
            <a:avLst/>
          </a:prstGeom>
          <a:solidFill>
            <a:srgbClr val="1a37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8"/>
          <p:cNvSpPr/>
          <p:nvPr/>
        </p:nvSpPr>
        <p:spPr>
          <a:xfrm>
            <a:off x="4736520" y="1408320"/>
            <a:ext cx="40230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Phase 4–6: OpenFAST, ACER &amp; Climate Trends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4663440" y="1755720"/>
            <a:ext cx="4160160" cy="191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Set up OpenFAST batch runs for selected environmental conditions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Extract response channels: mooring tensions, TwrBsFyt, TwrBsMxt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Reproduce Gumbel and ACER extreme estimation on response peaks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Split ERA5 into moving windows → nonstationary return-level trends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222222"/>
                </a:solidFill>
                <a:latin typeface="Calibri"/>
              </a:rPr>
              <a:t>Quantify change in environmental and structural extremes over ERA5 record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ectangle 10"/>
          <p:cNvSpPr/>
          <p:nvPr/>
        </p:nvSpPr>
        <p:spPr>
          <a:xfrm>
            <a:off x="274320" y="4663440"/>
            <a:ext cx="8595000" cy="36360"/>
          </a:xfrm>
          <a:prstGeom prst="rect">
            <a:avLst/>
          </a:prstGeom>
          <a:solidFill>
            <a:srgbClr val="e86a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11"/>
          <p:cNvSpPr/>
          <p:nvPr/>
        </p:nvSpPr>
        <p:spPr>
          <a:xfrm>
            <a:off x="274320" y="4754880"/>
            <a:ext cx="8595000" cy="7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e86a1a"/>
                </a:solidFill>
                <a:latin typeface="Calibri"/>
              </a:rPr>
              <a:t>Questions for supervisor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Should the primary study area stay strictly northern North Sea before extending to Ireland/Atlantic?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222222"/>
                </a:solidFill>
                <a:latin typeface="Calibri"/>
              </a:rPr>
              <a:t>First full replication: preserve paper assumptions exactly, then add sensitivity — or include sensitivity immediately?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12"/>
          <p:cNvSpPr/>
          <p:nvPr/>
        </p:nvSpPr>
        <p:spPr>
          <a:xfrm>
            <a:off x="0" y="6675120"/>
            <a:ext cx="9143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888888"/>
                </a:solidFill>
                <a:latin typeface="Calibri"/>
              </a:rPr>
              <a:t>PhD Supervisor Meeting  |  March 2026  |  Preliminary results — wind-only subset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2026-03-10T10:57:10Z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