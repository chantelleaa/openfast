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Short-Term Extreme Value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0E8F5"/>
                </a:solidFill>
              </a:rPr>
              <a:t>for the IEA 15 MW Floating Offshore Wind Turbine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292608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CEE"/>
                </a:solidFill>
              </a:rPr>
              <a:t>ERA5 Environmental Data  ·  Joint Distribution Fitting  ·  IFORM Contours  ·  OpenFAST Simulation  ·  Gumbel &amp; ACER Extreme Value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08C00"/>
                </a:solidFill>
              </a:rPr>
              <a:t>Chantelle  —  Supervisor Progress Update  |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AACC"/>
                </a:solidFill>
              </a:rPr>
              <a:t>Replicating: Chai et al. (2024) Ocean Engineering 306, 118120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Big Picture: What Is This Work Trying to Answer?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Core question:  Is the IEA 15 MW floating wind turbine structurally safe under the worst 100-year sea conditions?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To answer that, three problems must be solved in sequence: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1.  ENVIRONMENTAL PROBLEM — What is the worst realistic combination of wind + waves?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  →  Build a 100-year environmental contour in (Uw, Hs, Tp) space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2.  SIMULATION PROBLEM — What loads does that combination produce on the turbine?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  →  Run OpenFAST stochastic simulations at the extreme conditions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3.  STATISTICAL PROBLEM — What is the single worst load over the full return period?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  →  Extrapolate extreme load distribution using Gumbel and ACER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My work over the past 2 weeks covers ALL THREE stages: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Stage 1 — Validated the joint distribution model (Johannessen) and fitted it to ERA5 data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Stage 2 — Built the IFORM contour, selected ECs, set up OpenFAST simulation pipeline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Stage 3 — Implemented Gumbel and ACER extreme value prediction code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PhD context — the ultimate goal is a 4th stage: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Stage 4 — Repeat the whole pipeline across time (1950–2025) to track how extremes change with climate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Paper Overview: Chai et al.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Ocean Engineering 306, 118120 — what they did, step by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097280"/>
            <a:ext cx="1005840" cy="8046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00"/>
                </a:solidFill>
              </a:rPr>
              <a:t>Build 3D environmental contour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3560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Used Johannessen (2001) Northern North Sea stats. IFORM sphere (β=4.73) in (Uw, Hs, Tp) space gives Fig. 2.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1005840" cy="8046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00"/>
                </a:solidFill>
              </a:rPr>
              <a:t>Slice at 4 hub wind speeds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5000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Fixed Vhub = 6.98 · 10.59 · 25.0 · 57.64 m/s → 2D (Hs,Tp) loops at each speed (Fig. 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005840" cy="8046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260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00"/>
                </a:solidFill>
              </a:rPr>
              <a:t>Pick worst (Hs, Tp) per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6440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Run OpenFAST at several points on each loop → find maximum structural response → that is the design EC.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005840" cy="8046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023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00"/>
                </a:solidFill>
              </a:rPr>
              <a:t>50 stochastic simulations per 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7880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JONSWAP waves, different random seeds, 4200 s each (600 s transient + 3600 s analysis).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1005840" cy="8046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377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548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00"/>
                </a:solidFill>
              </a:rPr>
              <a:t>Extreme value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9320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Gumbel block-maxima and ACER peak-exceedance applied to mooring tension, tower shear, bending moment.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005840" cy="8046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521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66928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8C00"/>
                </a:solidFill>
              </a:rPr>
              <a:t>Safety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600760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Mooring: max tension &lt; 60% MBS (API-RP-2SK). Tower: within Eurocode 3 S355 allowables. Both pass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Insight from the Paper: Why the Parked Case Is Worst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EC5 (57.64 m/s, turbine parked) drives the largest tower loads — counterintuitively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5156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You might expect the operating turbine (blades spinning, converting wind to electricity) to be under more stress.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But the parked turbine (blades feathered, no rotation) actually produces the LARGEST tower loads.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Why?  When the turbine is operating, the spinning rotor acts like a giant sail that 'catches' the wind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smoothly and converts it to torque — the aerodynamic loads are distributed over the rotor disk.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The controller also actively limits thrust by pitching blades.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When the turbine is PARKED, the blades are feathered (edge-on to the wind) but the wind still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hits the tower and platform directly with nothing absorbing it.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The drag on the tower + platform becomes the dominant structural load.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At EC5: Vhub = 57.64 m/s, Hs = 14.33 m, Tp = 14.78 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Tower base shear force:     5.15 × 10³ kN    (maximum across all ECs)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Tower base bending moment:  7.82 × 10⁵ kN·m  (maximum across all ECs)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Max mooring tension: 4.74 × 10³ kN  (safety factor 4.70 — well above minimum 1.67 ✓)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This shapes our simulation strategy: EC5 (parked, 100-year wind) is the critical design load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Foundation: ERA5 Reanalysis  (1950–2025)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75 years of hourly metocean data — the input to everything else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51560"/>
            <a:ext cx="6858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Source: ECMWF ERA5 global atmospheric reanalysis, downloaded via the Copernicus CDS API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Variables extracted at each grid point: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u10, v10    →  10 m wind components  →  W = √(u²+v²)  (m/s)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u100, v100  →  100 m wind components  (used for validation + sensitivity)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swh         →  significant wave height Hs  (m)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pp1d        →  peak spectral wave period Tp  (s)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Data summary at validation point (56.5°N, 3.5°E — North of Scotland):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Total records:  666,216 hourly observations  (1950–2025, 76 years)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Mean wind W:    8.35 m/s  ·  Weibull shape β=2.35, scale α=9.42 m/s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100-year wind (10 m, 1-h):  28.7 m/s  (from fitted distribution)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6 Irish Sea / North Sea buoy locations extracted (M1–M6):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M1: 53.13°N, 11.20°W   M2: 53.48°N, 5.43°W   M3: 51.22°N, 10.55°W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M4: 55.00°N, 10.00°W   M5: 51.69°N, 6.70°W   M6: 53.06°N, 15.93°W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Current demo subset used for preliminary EVA: 1950–1981  (31.2 years, 375 files)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Enough for 32 annual maxima → meaningful Gumbel/GEV/POT comparison</a:t>
            </a:r>
          </a:p>
        </p:txBody>
      </p:sp>
      <p:pic>
        <p:nvPicPr>
          <p:cNvPr id="6" name="Picture 5" descr="fig_timeseries_v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51560"/>
            <a:ext cx="4846320" cy="17622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AACC"/>
                </a:solidFill>
              </a:rPr>
              <a:t>Hub wind speed time series
(10 m extrapolation, 150 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Hub-Height Wind Extrapolation: Formula and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ERA5 measures wind at 10 m. The turbine hub is at 150 m. Two corrections needed.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515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Physical intuition: Wind is slower near the sea surface due to friction.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It increases with height — this is the wind SHEAR PROFILE.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 150 m hub sits in significantly faster wind than the surface.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1 — Height correction (power-law profile, IEC 61400-1):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U_hub = U_ref × (z_hub / z_ref)^α      with α = 0.11 (offshore standard)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From 10 m:   U_hub = U_10  × (150/10)^0.11  =  U_10  × 1.369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From 100 m:  U_hub = U_100 × (150/100)^0.11 =  U_100 × 1.046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2 — Averaging period (1-hour ERA5 → 10-minute turbine standard):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V_hub (10-min) = U_hub (1-h) × 1.10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 10-min average is higher than 1-h because shorter windows capture stronger gusts.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Combined from 10 m:  V_hub = U_10 × 1.10 × 1.369  ≈  U_10 × 1.506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Example: U_10 = 38.9 m/s  →  V_hub = 57.6 m/s  ✓  (matches Chai et al. EC5)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Why larger α means more amplification: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α = 0.05 (very flat profile): (150/10)^0.05 = 1.145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α = 0.11 (offshore standard): (150/10)^0.11 = 1.369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α = 0.20 (onshore, rougher):  (150/10)^0.20 = 1.741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→ 10 m extrapolation is HIGHLY SENSITIVE to α choice (large vertical jump)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5029200" cy="1828800"/>
          </a:xfrm>
          <a:prstGeom prst="rect">
            <a:avLst/>
          </a:prstGeom>
          <a:solidFill>
            <a:srgbClr val="103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463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8C00"/>
                </a:solidFill>
              </a:rPr>
              <a:t>10 m → 150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745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U₁₀ × 1.369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C71"/>
                </a:solidFill>
              </a:rPr>
              <a:t>×1.10 → V_hub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474720"/>
            <a:ext cx="5029200" cy="1828800"/>
          </a:xfrm>
          <a:prstGeom prst="rect">
            <a:avLst/>
          </a:prstGeom>
          <a:solidFill>
            <a:srgbClr val="10326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566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8C00"/>
                </a:solidFill>
              </a:rPr>
              <a:t>100 m → 150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U₁₀₀ × 1.046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434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C71"/>
                </a:solidFill>
              </a:rPr>
              <a:t>×1.10 → V_hub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10 m vs 100 m Extrapolation: Which Is More Reliable?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Internal validation against actual ERA5 100 m wind reveals systematic bias in 10 m method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Two hub-height series computed from the same ERA5 data: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From 10 m:   mean V_hub = 12.37 m/s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From 100 m:  mean V_hub = 11.55 m/s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Mean absolute difference: 0.96 m/s  (8.66% of the 100 m value)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Internal validation — extrapolate 10 m ONLY UP TO 100 m, compare to actual ERA5 100 m: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Extrapolated 10→100 m mean: 10.75 m/s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Actual ERA5 100 m mean:     10.04 m/s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Bias: +0.71 m/s  ·  MAE: 0.84 m/s  ·  RMSE: 0.97 m/s  ·  MAPE: 9.76%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Conclusion: 10 m power-law already overpredicts at 100 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→ likely also overpredicts at 150 m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→ 100 m based extrapolation is the more trustworthy estimate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→ 10 m based extrapolation is kept as the paper-consistent BASELINE</a:t>
            </a:r>
          </a:p>
        </p:txBody>
      </p:sp>
      <p:pic>
        <p:nvPicPr>
          <p:cNvPr id="6" name="Picture 5" descr="fig_monthly_mean_vhub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05840"/>
            <a:ext cx="3291840" cy="1197033"/>
          </a:xfrm>
          <a:prstGeom prst="rect">
            <a:avLst/>
          </a:prstGeom>
        </p:spPr>
      </p:pic>
      <p:pic>
        <p:nvPicPr>
          <p:cNvPr id="7" name="Picture 6" descr="fig_monthly_mean_ws100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005840"/>
            <a:ext cx="3200400" cy="1163782"/>
          </a:xfrm>
          <a:prstGeom prst="rect">
            <a:avLst/>
          </a:prstGeom>
        </p:spPr>
      </p:pic>
      <p:pic>
        <p:nvPicPr>
          <p:cNvPr id="8" name="Picture 7" descr="fig_extrapolation_means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160520"/>
            <a:ext cx="3291840" cy="1881051"/>
          </a:xfrm>
          <a:prstGeom prst="rect">
            <a:avLst/>
          </a:prstGeom>
        </p:spPr>
      </p:pic>
      <p:pic>
        <p:nvPicPr>
          <p:cNvPr id="9" name="Picture 8" descr="fig_extrapolation_g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4160520"/>
            <a:ext cx="3200400" cy="1163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Sensitivity to Power-Law Exponent 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10 m extrapolation is much more sensitive to α than 100 m — quantified here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α (shear exponent) controls how fast wind increases with height.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Offshore seas: α ≈ 0.10–0.12  (smooth surface, weak shear)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Coastal/nearshore: α ≈ 0.14–0.16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Onshore/rough: α ≈ 0.20–0.25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Key result from sensitivity analysis: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At α = 0.11: 10 m gives 12.37 m/s · 100 m gives 11.55 m/s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As α increases, 10 m based estimate rises MUCH faster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Because: 10 m spans 10→150 m (15× height ratio) vs 100 m spans 100→150 m (1.5× ratio)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This is why the 10 m extrapolation is high-risk: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 small error in α (which is often region- and season-dependent)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gets amplified over the full 140 m vertical span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For thesis: will use α = 0.11 as paper-consistent baseline,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carry α sensitivity as formal uncertainty quantification</a:t>
            </a:r>
          </a:p>
        </p:txBody>
      </p:sp>
      <p:pic>
        <p:nvPicPr>
          <p:cNvPr id="6" name="Picture 5" descr="fig_alpha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6309360" cy="3549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Annual Maxima and Time Series — Input to Extreme Value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timeseries_vhub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577840" cy="2028305"/>
          </a:xfrm>
          <a:prstGeom prst="rect">
            <a:avLst/>
          </a:prstGeom>
        </p:spPr>
      </p:pic>
      <p:pic>
        <p:nvPicPr>
          <p:cNvPr id="5" name="Picture 4" descr="fig_annual_max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852160" cy="2600960"/>
          </a:xfrm>
          <a:prstGeom prst="rect">
            <a:avLst/>
          </a:prstGeom>
        </p:spPr>
      </p:pic>
      <p:pic>
        <p:nvPicPr>
          <p:cNvPr id="6" name="Picture 5" descr="fig_annual_maxima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77639"/>
            <a:ext cx="5577840" cy="2479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3977639"/>
            <a:ext cx="5852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Top left: full hub-wind time series  (10 m vs 100 m paths track closely in shape,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differ by ~0.96 m/s mean offset)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Top right: annual maxima used as input to Gumbel/GEV fitting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32 years of data → 32 block maxima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Scatter reflects natural interannual variability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Bottom left: annual maxima comparison between 10 m and 100 m paths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Similar year-to-year pattern — same storm events drive both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10 m consistently higher due to larger extrapolation 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Five Extreme Value Methods — Quantifying Model-Form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Applied to hub-height wind speed from ERA5 subset (1950–1981, 32 annual maxima)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Why compare five methods?  Any single EVA method embeds assumptions.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Comparing them quantifies model-form uncertainty — how much the estimate depends on model choice.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55448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8C00"/>
                </a:solidFill>
              </a:rPr>
              <a:t>Gumbel
block-max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783080"/>
            <a:ext cx="356616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5"/>
                </a:solidFill>
              </a:rPr>
              <a:t>F(x)=exp(-exp(-(x-μ)/β))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783080"/>
            <a:ext cx="502920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920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Simple, transparent, used in paper. CONSERVATIVE.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1783080"/>
            <a:ext cx="118872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8208" y="1965960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36.31 m/s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155448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4320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GEV
block-max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651760"/>
            <a:ext cx="356616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788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5"/>
                </a:solidFill>
              </a:rPr>
              <a:t>F(x)=exp(-(1+ξ(x-μ)/σ)^(-1/ξ))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651760"/>
            <a:ext cx="502920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788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Generalises Gumbel (ξ=0). More flexible.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2651760"/>
            <a:ext cx="118872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8208" y="2834640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32.90 m/s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20439"/>
            <a:ext cx="155448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11879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Weibull
block-max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520439"/>
            <a:ext cx="356616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65759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5"/>
                </a:solidFill>
              </a:rPr>
              <a:t>F(x)=1-exp(-(x/α)^β)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520439"/>
            <a:ext cx="502920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365759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Practical engineering benchmark for positive vars.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3520439"/>
            <a:ext cx="118872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8208" y="3703319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32.88 m/s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155448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4805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Lognormal
block-max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389120"/>
            <a:ext cx="356616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4526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5"/>
                </a:solidFill>
              </a:rPr>
              <a:t>ln(X) ~ Normal(μ,σ)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389120"/>
            <a:ext cx="502920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4526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Benchmark for positive skewed variables.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4389120"/>
            <a:ext cx="1188720" cy="7772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8208" y="4572000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33.68 m/s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57800"/>
            <a:ext cx="155448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3492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POT/GPD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5257800"/>
            <a:ext cx="356616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394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5"/>
                </a:solidFill>
              </a:rPr>
              <a:t>P(Y&gt;y|X&gt;u)=(1+ξy/σᵤ)^(-1/ξ)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5257800"/>
            <a:ext cx="502920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53949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Uses more tail data. Threshold u=21.89 m/s, n=746 peaks.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89920" y="5257800"/>
            <a:ext cx="1188720" cy="7772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8208" y="5440680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33.16 m/s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1417319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8AACC"/>
                </a:solidFill>
              </a:rPr>
              <a:t>100-yr RL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172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8C00"/>
                </a:solidFill>
              </a:rPr>
              <a:t>Key finding: Gumbel is 9–10% MORE CONSERVATIVE than the other methods (36.31 vs ~33 m/s).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This is exactly why the paper pairs Gumbel with ACER — one conservative, one efficient.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Return Level Comparison and POT Threshold Diagnostic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ig_retur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760720" cy="2880360"/>
          </a:xfrm>
          <a:prstGeom prst="rect">
            <a:avLst/>
          </a:prstGeom>
        </p:spPr>
      </p:pic>
      <p:pic>
        <p:nvPicPr>
          <p:cNvPr id="5" name="Picture 4" descr="fig_pot_m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66928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114800"/>
            <a:ext cx="11430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Left — Return level plot: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All 5 methods plotted on the same axes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Gumbel diverges upward at long return periods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GEV, Weibull, Lognormal, POT cluster tightly — they agree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Spread at 100 years quantifies model-form uncertainty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Right — Mean Residual Life (MRL) plot for POT threshold selection: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x-axis: candidate threshold u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y-axis: mean excess (average amount by which exceedances exceed u)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Theory: if data follows GPD above u, MRL should be LINEAR in u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The near-linear region identifies a valid threshold range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Chosen threshold: u = 21.89 m/s  (q=0.95), giving 746 declustered peaks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GPD shape parameter ξ = −0.327  (upper tail is bounded)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Joint Distribution Model: (Uw, Hs, Tp) Are Not Independent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Strong physical coupling — wind drives waves, waves set the period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The three environmental variables are physically linked: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High winds → large waves → long-period swell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Must model them JOINTLY — not independently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Hierarchical conditional factorisation (Rosenblatt transform):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f(Uw, Hs, Tp)  =  f(Uw)  ×  f(Hs | Uw)  ×  f(Tp | Hs, Uw)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Three distributions fitted: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1371600" cy="5760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391363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Variable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2011680" cy="5760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5376" y="3913632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3840480"/>
            <a:ext cx="2560320" cy="5760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8496" y="3913632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Parameters depend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840480"/>
            <a:ext cx="1645920" cy="57607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3913632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62272"/>
            <a:ext cx="137160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4535424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Uw (wind)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462272"/>
            <a:ext cx="201168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65376" y="4535424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Marginal Weibull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4462272"/>
            <a:ext cx="256032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4535424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—  (fitted to all data)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462272"/>
            <a:ext cx="164592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4535424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ERA5 10 m wind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84064"/>
            <a:ext cx="1371600" cy="576072"/>
          </a:xfrm>
          <a:prstGeom prst="rect">
            <a:avLst/>
          </a:prstGeom>
          <a:solidFill>
            <a:srgbClr val="0D2B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5157216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Hs | Uw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5084064"/>
            <a:ext cx="2011680" cy="576072"/>
          </a:xfrm>
          <a:prstGeom prst="rect">
            <a:avLst/>
          </a:prstGeom>
          <a:solidFill>
            <a:srgbClr val="0D2B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65376" y="5157216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Conditional Weibull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084064"/>
            <a:ext cx="2560320" cy="576072"/>
          </a:xfrm>
          <a:prstGeom prst="rect">
            <a:avLst/>
          </a:prstGeom>
          <a:solidFill>
            <a:srgbClr val="0D2B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5157216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Scale &amp; shape linear in Uw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5084064"/>
            <a:ext cx="1645920" cy="576072"/>
          </a:xfrm>
          <a:prstGeom prst="rect">
            <a:avLst/>
          </a:prstGeom>
          <a:solidFill>
            <a:srgbClr val="0D2B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5157216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ERA5 swh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05856"/>
            <a:ext cx="137160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577900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Tp | Hs, Uw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705856"/>
            <a:ext cx="201168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5376" y="5779008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Conditional Lognormal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5705856"/>
            <a:ext cx="256032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8496" y="5779008"/>
            <a:ext cx="2487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μ &amp; σ as power-law in 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5705856"/>
            <a:ext cx="1645920" cy="576072"/>
          </a:xfrm>
          <a:prstGeom prst="rect">
            <a:avLst/>
          </a:prstGeom>
          <a:solidFill>
            <a:srgbClr val="1235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57790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ERA5 pp1d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10972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Johannessen (2001) parameters  (benchmark):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Uw Weibull:  α=8.43, β=1.71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α_Hs(W) = 1.8 + 0.100·W^1.322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β_Hs(W) = 2.0 + 0.135·W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Tp model: μ_Tp = (4.883+2.68·Hs^0.529)·(1−0.19·Δ)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Our ERA5 fit  (56.5°N):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Uw Weibull:  α=9.42, β=2.35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α_Hs(W) = 0.488·W^0.870 + 0.829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β_Hs(W) = 0.011·W^2.106 + 0.995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Fitting the Marginal Wind Distribution: Weibull MLE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Method-of-moments initialisation → scipy MLE → validated against empirical CDF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Procedure: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1. Compute wind speed: W = √(u10²+v10²) from ERA5 components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2. Method-of-moments: estimate shape β and scale α from sample mean and CV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3. Maximum likelihood estimation (scipy weibull_min.fit) refines parameters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4. Validate: overlay Weibull PDF on histogram, CDF on empirical CDF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ERA5 results at 56.5°N, 3.5°E: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Shape β = 2.35  (heavier than Johannessen's 1.71 — more Rayleigh-like)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Scale α = 9.42 m/s  (slightly higher than Johannessen's 8.43 m/s)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Fitted 100-year return level: 28.7 m/s  (10 m, 1-h)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Johannessen (Northern North Sea): ~39 m/s  (harsher, deeper water)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The difference is real — our sites are in the milder Irish Sea,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not the open, deep Northern North Sea of the Johannessen dataset</a:t>
            </a:r>
          </a:p>
        </p:txBody>
      </p:sp>
      <p:pic>
        <p:nvPicPr>
          <p:cNvPr id="6" name="Picture 5" descr="weibull_wind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05840"/>
            <a:ext cx="6217920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Conditional Wave Height: Hs | Uw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Weibull scale and shape as smooth functions of wind speed — fitted from 14 bins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For each wind speed bin, Hs follows a conditional Weibull: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F(h|w) = 1 − exp[−(h / α_Hs(w))^β_Hs(w)]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Fitting procedure: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Bin ERA5 data into 14 wind speed intervals  (0–2, 2–4, ..., 24–26 m/s)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Minimum 19,000 data points per bin  (dense enough for stable fit)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Fit Weibull to Hs in each bin → get one (α, β) pair per bin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Fit SMOOTH power-law functions through the bin estimates: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α_Hs(W) = 0.488·W^0.870 + 0.829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β_Hs(W) = 0.011·W^2.106 + 0.995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Physical interpretation: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As wind speed increases, both scale (typical wave height) and shape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(spread of the distribution) increase — bigger and more variable waves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The smooth functions are what get plugged into the IFORM contour generator</a:t>
            </a:r>
          </a:p>
        </p:txBody>
      </p:sp>
      <p:pic>
        <p:nvPicPr>
          <p:cNvPr id="6" name="Picture 5" descr="Hs_smooth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05840"/>
            <a:ext cx="621792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Conditional Peak Period: Tp | Uw, 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Lognormal distribution — parameters fitted in (Uw, Hs) double-bins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Peak period Tp ~ Lognormal  given (Uw, Hs):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ln(Tp) ~ Normal(μ_ln, σ_ln)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Double-bin fitting: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First bin by Uw (6 bins), then by Hs within each Uw bin (6 sub-bins)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Minimum 30 points per (Uw, Hs) cell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In each cell: fit μ_ln and σ_ln of log(Tp)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Then smooth these as power-law functions of Hs: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μ_ln(Hs) = a_μ + b_μ · Hs^c_μ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σ_ln(Hs) = a_σ + b_σ · Hs^c_σ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Key values: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W=10 m/s, Hs=5 m  →  median Tp = 13.1 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W=15 m/s, Hs=8 m  →  median Tp = 15.2 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W=25 m/s, Hs=13 m →  median Tp = 16.2 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Note: extreme (W, Hs) combinations at high wind + low wave height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can cause parameter overflow — flagged and filtered</a:t>
            </a:r>
          </a:p>
        </p:txBody>
      </p:sp>
      <p:pic>
        <p:nvPicPr>
          <p:cNvPr id="6" name="Picture 5" descr="lognormal_Tp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05840"/>
            <a:ext cx="621792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IFORM: How the Return Period Becomes a 3D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Inverse First-Order Reliability Method — the mathematical bridge from statistics to design conditions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6858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1 — Map to standard normal space (Rosenblatt transform):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U₁ = Φ⁻¹(F_W(Uw))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U₂ = Φ⁻¹(F_{Hs|W}(Hs | Uw))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U₃ = Φ⁻¹(F_{Tp|Hs,W}(Tp | Hs, Uw))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In (U₁,U₂,U₃) space, all distributions become standard normal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2 — The 100-year event maps to a sphere of radius β: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β = Φ⁻¹(1 − 1/(T · N_obs/yr))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T=100 yr, N_obs=8766/yr  →  β = 4.727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Every point on the sphere has the SAME return period — just different combinations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3 — Parametrise the sphere with (θ, φ) and transform back: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u₁ = β·cos(θ)                     →  Φ⁻¹ of F_W  →  Uw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u₂ = β·sin(θ)·cos(φ)  + Uw  →  Φ⁻¹ of F_{Hs|W}  →  Hs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u₃ = β·sin(θ)·sin(φ)  + Uw, Hs →  Φ⁻¹ of F_{Tp|Hs,W}  →  Tp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Result: a 3D surface in (Uw, Hs, Tp) — every point is a 100-year event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Discretisation: θ ∈ [0,π] × 50 points,  φ ∈ [0,2π] × 100 points  =  5000 surface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280160"/>
            <a:ext cx="4663440" cy="5212080"/>
          </a:xfrm>
          <a:prstGeom prst="rect">
            <a:avLst/>
          </a:prstGeom>
          <a:solidFill>
            <a:srgbClr val="081E40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</a:rPr>
              <a:t>Standard Normal
Space (U₁,U₂,U₃)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01168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Sphere of radius β=4.727
Every point on
this sphere
= 100-year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38912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C71"/>
                </a:solidFill>
              </a:rPr>
              <a:t>Rosenblatt
transform
↕
(Uw, Hs, Tp)
physical 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Johannessen 50-Year Contour — Benchmark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Reproduced from parametric model. Max values match published results within 3%.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Johannessen (2001) Northern North Sea, 1973–1999: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K1Y = 8760 obs/yr  ·  β = 4.584 for 50-year return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Contour surface results: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Max Uw = 37.8 m/s (10 m, 1-h)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Hub conversion: 37.8 × 1.10 × (150/10)^0.11 = 56.0 m/s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Paper reports: 57.64 m/s  →  3% difference ✓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Max Hs = 15.2 m  ·  Max Tp = 23.8 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Surface shape (Fig. 2 of paper):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Low winds (left corner) → small waves, short periods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High winds (tall peak) → large waves, long swell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The surface 'wraps' around the IFORM reliability sphere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Axes are intentionally inverted (Hs axis flips, Tp axis flips)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 match the orientation of Fig. 2 in Chai et al. 2024</a:t>
            </a:r>
          </a:p>
        </p:txBody>
      </p:sp>
      <p:pic>
        <p:nvPicPr>
          <p:cNvPr id="6" name="Picture 5" descr="johannessen_3D_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6309360" cy="65817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360° Rotating Contour Animations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120 frames · 20 fps · matplotlib FuncAnimation + PillowWriter — full azimuth sweep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_g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440680" cy="4836160"/>
          </a:xfrm>
          <a:prstGeom prst="rect">
            <a:avLst/>
          </a:prstGeom>
        </p:spPr>
      </p:pic>
      <p:pic>
        <p:nvPicPr>
          <p:cNvPr id="6" name="Picture 5" descr="_g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440680" cy="3808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5780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AACC"/>
                </a:solidFill>
              </a:rPr>
              <a:t>Johannessen model — 50-year contour
(benchmark, Northern North Sea)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25780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AACC"/>
                </a:solidFill>
              </a:rPr>
              <a:t>ERA5-fitted model — 100-year contour
(our data, Irish Sea buoy M1)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6080760"/>
            <a:ext cx="11430000" cy="0"/>
          </a:xfrm>
          <a:prstGeom prst="line">
            <a:avLst/>
          </a:prstGeom>
          <a:ln w="15240">
            <a:solidFill>
              <a:srgbClr val="446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5943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C00"/>
                </a:solidFill>
              </a:rPr>
              <a:t>What the animation reveals that a static image cannot: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F5"/>
                </a:solidFill>
              </a:rPr>
              <a:t>the surface is a thin shell at low winds, opens into a broad dome at high winds — confirming the physical meaning of the joint distribution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ERA5-Fitted 100-Year Contour — Our Own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Fitted independently using 75 years of ERA5 at 6 buoy locations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All distributions fitted from ERA5 data — not Johannessen's parameters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M1 (53.1°N, 11.2°W) 100-year results: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β = 4.727  (100 yr × 8766 obs/yr)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Max Uw = 29.5 m/s  ·  Max Hs = 8.49 m  ·  Max Tp = 29.1 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Why lower than Johannessen?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Johannessen used the open Northern North Sea (water depth &gt;200 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Our M1–M6 locations are in the shallower Irish Sea / Celtic Sea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These are genuinely less severe metocean conditions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Hs comparison at max Uw: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Johannessen 50-yr:  Hs_max = 15.2 m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Our ERA5 100-yr:    Hs_max = 8.49 m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Physically consistent — milder sea, even at a LONGER return period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The 6 buoy locations give slightly different contour shapes,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reflecting regional variation in the Irish/North Sea climatology</a:t>
            </a:r>
          </a:p>
        </p:txBody>
      </p:sp>
      <p:pic>
        <p:nvPicPr>
          <p:cNvPr id="6" name="Picture 5" descr="contour_surfac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822960"/>
            <a:ext cx="6217920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2D Hs–Tp Loops: Slicing the 3D Contour at Fixed Wind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Each coloured loop = one hub wind speed = one 'equally dangerous' family of wave conditions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Procedure: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Fix V_hub  →  convert to Uw (10 m, 1-h) using Eq. 9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U_w = V_hub / (1.10 × (150/10)^0.11)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Find the angle θ on the IFORM sphere corresponding to that Uw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Sweep φ from 0 to 2π  →  trace a closed curve in (Hs, Tp) space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Hub speeds used:  6.98 · 10.59 · 25.0 · 57.64 m/s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(cut-in, rated, cut-out, 100-year survival)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Worst-case = point with MAX Hs on each loop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Physically: biggest waves produce the largest structural loads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This is the (Hs, Tp) pair fed into OpenFAST for that wind speed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Note: 57.64 m/s is right at the edge of the contour sphere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(Uw = 38.9 m/s is near the maximum of the Weibull distribution)</a:t>
            </a:r>
          </a:p>
        </p:txBody>
      </p:sp>
      <p:pic>
        <p:nvPicPr>
          <p:cNvPr id="6" name="Picture 5" descr="johannessen_2D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60520"/>
            <a:ext cx="5486400" cy="4267200"/>
          </a:xfrm>
          <a:prstGeom prst="rect">
            <a:avLst/>
          </a:prstGeom>
        </p:spPr>
      </p:pic>
      <p:pic>
        <p:nvPicPr>
          <p:cNvPr id="7" name="Picture 6" descr="M1_2D_fixed_hub_sp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852160" cy="455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Johannessen benchmark (bottom left)                         ERA5 M1 fitted (right)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Selected Environmental Conditions (ECs)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One worst-case (Hs, Tp) per wind speed — the simulation inputs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For each hub wind speed, the point with maximum Hs on the 100-year contour loop is selected.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5800" cy="53035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527048"/>
            <a:ext cx="612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508760"/>
            <a:ext cx="1737360" cy="53035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527048"/>
            <a:ext cx="1664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V_hub (m/s)
10-min, 150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508760"/>
            <a:ext cx="1554480" cy="53035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1527048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Uw (m/s)
1-h, 10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508760"/>
            <a:ext cx="1188720" cy="53035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527048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Hs (m)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508760"/>
            <a:ext cx="1188720" cy="53035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34456" y="1527048"/>
            <a:ext cx="1115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Tp (s)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508760"/>
            <a:ext cx="2103120" cy="530352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4616" y="152704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Turbine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30552"/>
            <a:ext cx="68580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194560"/>
            <a:ext cx="61264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EC1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130552"/>
            <a:ext cx="173736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" y="2194560"/>
            <a:ext cx="166420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6.98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130552"/>
            <a:ext cx="155448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08376" y="2194560"/>
            <a:ext cx="14813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4.71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130552"/>
            <a:ext cx="118872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2194560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~3–4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2130552"/>
            <a:ext cx="118872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34456" y="2194560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~10–11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130552"/>
            <a:ext cx="210312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14616" y="2194560"/>
            <a:ext cx="20299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Operation (below rated)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70632"/>
            <a:ext cx="68580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" y="2834640"/>
            <a:ext cx="61264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EC2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2770632"/>
            <a:ext cx="173736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9576" y="2834640"/>
            <a:ext cx="166420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10.59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2770632"/>
            <a:ext cx="155448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08376" y="2834640"/>
            <a:ext cx="14813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7.15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770632"/>
            <a:ext cx="118872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2834640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~5–6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2770632"/>
            <a:ext cx="118872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4456" y="2834640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~11–12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2770632"/>
            <a:ext cx="210312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14616" y="2834640"/>
            <a:ext cx="20299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Operation (rated)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410712"/>
            <a:ext cx="68580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6" y="3474720"/>
            <a:ext cx="61264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EC3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3410712"/>
            <a:ext cx="173736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9576" y="3474720"/>
            <a:ext cx="166420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25.0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3410712"/>
            <a:ext cx="155448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08376" y="3474720"/>
            <a:ext cx="14813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16.87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410712"/>
            <a:ext cx="118872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4296" y="3474720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~9–11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97880" y="3410712"/>
            <a:ext cx="118872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34456" y="3474720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~13–14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3410712"/>
            <a:ext cx="2103120" cy="59436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14616" y="3474720"/>
            <a:ext cx="20299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Operation (above rated)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50791"/>
            <a:ext cx="68580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" y="4114799"/>
            <a:ext cx="61264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8C00"/>
                </a:solidFill>
              </a:rPr>
              <a:t>EC4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4050791"/>
            <a:ext cx="173736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9576" y="4114799"/>
            <a:ext cx="166420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57.64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4050791"/>
            <a:ext cx="155448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08376" y="4114799"/>
            <a:ext cx="14813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38.9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4050791"/>
            <a:ext cx="118872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54296" y="4114799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~13–15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7880" y="4050791"/>
            <a:ext cx="118872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34456" y="4114799"/>
            <a:ext cx="11155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~14–16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78040" y="4050791"/>
            <a:ext cx="2103120" cy="59436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14616" y="4114799"/>
            <a:ext cx="202996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</a:rPr>
              <a:t>Parked — SURVIVAL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7548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C00"/>
                </a:solidFill>
              </a:rPr>
              <a:t>Paper (Chai et al.) EC values for comparison: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5"/>
                </a:solidFill>
              </a:rPr>
              <a:t>EC1: Hs=6.06m · Tp=12.50s · Vhub=3m/s · 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5"/>
                </a:solidFill>
              </a:rPr>
              <a:t>EC2: Hs=6.80m · Tp=12.70s · Vhub=6.89m/s · Op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5"/>
                </a:solidFill>
              </a:rPr>
              <a:t>EC3: Hs=7.28m · Tp=12.34s · Vhub=10.59m/s · Op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2359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5"/>
                </a:solidFill>
              </a:rPr>
              <a:t>EC4: Hs=10.46m · Tp=14.12s · Vhub=25m/s · Op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8F5"/>
                </a:solidFill>
              </a:rPr>
              <a:t>EC5: Hs=14.33m · Tp=14.78s · Vhub=57.64m/s · Parked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580644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EC4 (our) / EC5 (paper): parked turbine in 100-year wind — drives the LARGEST tower loads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10 stochastic realizations per EC  ·  TMax = 4200 s  (600 s transient + 3600 s analysis)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OpenFAST: IEA 15 MW on UMaine VolturnUS-S Semi-Submersible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Fully coupled aero-hydro-servo-elastic simulation — open-source NREL tool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Turbine specifications: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Rated power: 15 MW  ·  Cut-in: 3 m/s  ·  Rated: 10.59 m/s  ·  Cut-out: 25 m/s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Hub height: 150 m  ·  Rotor diameter: 240 m  ·  Max rotor speed: 7.56 rpm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Platform: UMaine VolturnUS-S  (4-column semi-submersible steel)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Mooring: 3 catenary chain lines, 850 m length each, MBS = 22,286 kN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Water depth: 200 m  ·  Fairlead depth: 14 m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Physics modules used in this simulation: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AeroDyn  — blade element momentum + generalised dynamic wake aerodynamics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ServoDyn — ROSCO controller (blade pitch + generator torque)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ElastoDyn — structural dynamics: rotor, drivetrain, tower, platform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HydroDyn  — potential flow (WAMIT data) + 2nd-order wave forces (QTF)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MoorDyn   — dynamic mooring line simulation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SeaState  — JONSWAP irregular wave generation (WaveMod=2)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Validated against: DLW, DIEGO, HAWC2, OpenFAST (Chai et al. Tables 4–7)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All four tools agree within &lt;10% on tower base shear and bending moment 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Automated Simulation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Python script modifies input files, runs OpenFAST, logs outputs — with caching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For each EC × realization the script does: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1.  Check if .outb already exists  →  if yes, SKIP (cache hit)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2.  Copy the base model directory to a fresh run folder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3.  Copy InflowWind file from IEA-15-240-RWT/ to run dir (fixes relative path)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4.  Patch HWindSpeed = V_hub in InflowWind (steady wind at hub height, 150 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5.  Patch WaveHs, WaveTp, WaveTMax, WaveSeed in SeaState  (JONSWAP parameters)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6.  Patch TMax = 4200 s in .fst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7.  Call openfast subprocess, capture stdout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8.  Record output file path to run_log for post-processing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Run directories placed as siblings of IEA-15-240-RWT-UMaineSemi/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(required so ../IEA-15-240-RWT/ relative file paths resolve correctly)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Caching means the cell is SAFE TO RE-RUN after kernel crash or partial completion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 invalidate and rerun: delete EC*_r* folders manually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Computation scale: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4 ECs × 10 realizations = 40 runs  ·  ~70 min each  →  ~47 hrs sequential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Paper: 5 ECs × 50 realizations = 250 runs  →  ~292 hrs sequential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With 4 CPU cores in parallel: ~12 hrs for our 40-run set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Simulation Outputs: What We Extract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Three structural response channels — chosen to match Chai et al. 2024 Table 9–11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From each .outb file (binary format, read with openfast_io FASTOutputFile):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Discard first 600 s (transient) → analyse 3600 s per realization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FAIRTEN1  — fairlead tension in mooring line #1  [N → convert to kN]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Mooring line #1 faces the wave direction alone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Lines #2 and #3 are symmetrically distributed → less loaded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This is the MOST LOADED LINE — critical for mooring integrity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Safety check: max tension &lt; 60% MBS = 0.6 × 22,286 = 13,372 kN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TwrBsFyt  — tower base fore-aft shear force  [kN]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Force at the bottom of the tower in the wave/wind direction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Key indicator of overturning risk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TwrBsMyt  — tower base fore-aft bending moment  [kN·m]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Most demanding for structural assessment (largest lever arm)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Safety check: must be &lt; LULt_moment (Eurocode 3, S355 steel)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Paper allowables: shear = 1.59×10⁵ kN · moment = 1.08×10⁶ kN·m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Power spectral density (PSD) of each channel shows which physical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phenomena dominate: pitch frequency, wave frequency, 1P/3P blade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Extreme Value Method 1 — Gumbel Block Maxima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Simple, transparent, used in the paper — but tends to be conservative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Intuition: if you run 10 simulations and take the maximum of each,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you have a sample from the DISTRIBUTION OF MAXIMA.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The Gumbel distribution is theoretically the limiting distribution of maxima.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1: extract one block maximum per realization  →  10 values per EC per channel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2: fit Gumbel CDF by MLE: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F(x) = exp{ −exp[ −(x−μ)/β ] }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Two parameters: location μ  (shifts the distribution left/right)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                scale β   (controls how spread out the tail is)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3: diagnostic — Gumbel probability paper: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y = −ln(−ln(F(x)))  plotted vs x  should be a STRAIGHT LINE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Deviation from linearity → Gumbel is not a good fit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Step 4: read off extreme value at λ = 0.01 (1% exceedance per 1-h sea state):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x* = μ − β · ln(−ln(1−0.01))  =  μ + 4.60·β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Known limitation: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Uses only 1 value per run → ignores hundreds of peaks in each time series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This makes it conservative (overestimates the true extreme)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Extreme Value Method 2 — ACER  (Naess &amp; Gaidai 2009)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Average Conditional Exceedance Rate — uses every peak, accounts for wave-to-wave correlation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Motivation: real ocean waves are correlated — a big wave often follows another big wave.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If you just count exceedances ignoring this, you double-count dependent events.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ACER conditions on the PREVIOUS peak to remove this bias.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Definition: ACER₂(η) = P(Xⱼ &gt; η | Xⱼ₋₁ ≤ η)  averaged over all peaks j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This is the rate at which peaks exceed threshold η,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given the immediately preceding peak did NOT exceed η  (k=2 Markov order)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Empirical estimation from R realizations: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ACER₂(η) = (1/R) × Σᵣ  #{j≥2: Xⱼ&gt;η, Xⱼ₋₁≤η} / Nᵣ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Tail fitting (parametric extrapolation):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ê(η) ≈ q · exp{ −a·(η − b)^c }   for η ≥ η₀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4 parameters (q, a, b, c) fitted by weighted least-squares in log-space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η₀ = lower bound of the fitting region (upper 20% of peaks)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Find extreme value η*:  set  ê(η*) = 0.01  →  solve for η*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Why it works better than Gumbel: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Uses EVERY PEAK (hundreds per run vs 1 for Gumbel) → much more data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Explicitly models peak-to-peak correlation  →  less bias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Paper: ACER gives lower (less conservative) and more accurate estimates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Gumbel vs ACER — Comparison and Paper Findings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3108960" cy="502920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3327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05840"/>
            <a:ext cx="3840480" cy="502920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033271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Gumbel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005840"/>
            <a:ext cx="3840480" cy="502920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033271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ACER₂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10896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55064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Data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600200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65506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 block maximum per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600200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65506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All local peaks (hundreds per run)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310896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9424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Sample size (10 runs)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194560"/>
            <a:ext cx="384048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4942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10 values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194560"/>
            <a:ext cx="384048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24942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~500–2000 peaks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310896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43784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Wave correlation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788920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84378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Ignored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2788920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284378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Modelled via Markov k=2 conditioning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83280"/>
            <a:ext cx="310896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438144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Tail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383280"/>
            <a:ext cx="384048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43814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Linear on Gumbel paper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383280"/>
            <a:ext cx="384048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343814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Parametric:  q·exp{−a(η−b)^c}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39"/>
            <a:ext cx="310896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032503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Typical extreme estimate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3977639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4032503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Higher — conservative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977639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4032503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Lower — closer to true value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72000"/>
            <a:ext cx="310896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626864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Uncertainty (paper Table 13)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572000"/>
            <a:ext cx="384048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462686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Larger CI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572000"/>
            <a:ext cx="3840480" cy="548640"/>
          </a:xfrm>
          <a:prstGeom prst="rect">
            <a:avLst/>
          </a:prstGeom>
          <a:solidFill>
            <a:srgbClr val="0D2B55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462686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Most values &lt; 0.10 — very tight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66360"/>
            <a:ext cx="310896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221224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8C00"/>
                </a:solidFill>
              </a:rPr>
              <a:t>Best use case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5166360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03320" y="522122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Quick check, few simulations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5166360"/>
            <a:ext cx="3840480" cy="548640"/>
          </a:xfrm>
          <a:prstGeom prst="rect">
            <a:avLst/>
          </a:prstGeom>
          <a:solidFill>
            <a:srgbClr val="12356A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5221224"/>
            <a:ext cx="37490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Accurate estimate, more data available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852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</a:rPr>
              <a:t>Paper finding (Chai et al. 2024, Section 6):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8F5"/>
                </a:solidFill>
              </a:rPr>
              <a:t>ACER estimates are consistently smaller than Gumbel. Under extreme conditions (EC5), ACER results are closer to the actual situation and are recommended for short-term prediction.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OpenFAST VTK Animation — Watching the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WrVTK=2, VTK_type=1: exports solid mesh frames every timestep for ParaView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OpenFAST VTK output flags in the .fst file: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WrVTK = 2    → animation (one .vtp mesh file per frame)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VTK_type = 1 → solid surfaces (blades, tower cylinder, platform)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VTK_fps = 15 → 15 frames per second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Two sets of .vtp files created in vtk/ folder: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*.ED.*.vtp  — ElastoDyn mesh: tower, blades, nacelle  (structural deformation)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*.MD.*.vtp  — MoorDyn mesh:   3 mooring lines  (position as they go taut/slack)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Load in ParaView: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File → Open → vtk/ folder → select *.ED..vtp (auto-groups as time series)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Click Apply → Press Play ▶ to animate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Load both .ED and .MD groups together in the same scene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What you can observe: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Platform surge (forward-backward motion with waves)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Platform pitch (tilting due to wave loading + wind thrust)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Blade flex (tip deflection under aerodynamic load)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Mooring lines going taut on upwave side, slack on downwave side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Used a 60-second test run for visual validation of the simulation setup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Confirmed: turbine spins up, platform responds to waves, mooring 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097280"/>
            <a:ext cx="4754880" cy="5120640"/>
          </a:xfrm>
          <a:prstGeom prst="rect">
            <a:avLst/>
          </a:prstGeom>
          <a:solidFill>
            <a:srgbClr val="06162E"/>
          </a:solidFill>
          <a:ln>
            <a:solidFill>
              <a:srgbClr val="1A6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5603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</a:rPr>
              <a:t>[ ParaView 3D View ]
Blades: solid surfaces, flexing
Tower: cylinder, deforming
Platform: pitching &amp; surging
Mooring: 3 lines, taut/slack
Background: ocean-dark blue
Camera: orbit around turbine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PhD Context: How This Feeds the Climate-Change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8F5"/>
                </a:solidFill>
              </a:rPr>
              <a:t>The replication is Stage 1 — the thesis contribution is the temporal evolution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What the replication gives us (Stages 1–3):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 validated pipeline: ERA5 → joint distribution → IFORM contour → OpenFAST → Gumbel/ACER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Verified against Chai et al. 2024 EC values and structural response trends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The PhD contribution — Stage 4 (climate non-stationarity):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Repeat the ENTIRE pipeline using moving 30-year windows across 1950–2025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e.g., 1950–1980, 1951–1981, ..., 1995–2025  (46 overlapping windows)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Track how the 100-year return level of (Uw, Hs, Tp) changes over time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Regenerate ECs per window  →  how do design conditions shift with climate?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Run reduced OpenFAST campaigns at selected windows (early/mid/recent decade)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Quantify: how much have extreme STRUCTURAL LOADS changed since 1950?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Questions to answer for the supervisor now: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1. Primary study region: Irish Sea first, then extend to Northern North Sea?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2. 10 m only (paper-consistent) OR carry both 10 m and 100 m as formal sensitivity?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3. Window strategy: 30-year fixed, or decadal blocks?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4. How many OpenFAST runs are feasible per window given compute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760720"/>
            <a:ext cx="3017520" cy="731520"/>
          </a:xfrm>
          <a:prstGeom prst="rect">
            <a:avLst/>
          </a:prstGeom>
          <a:solidFill>
            <a:srgbClr val="1A6E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064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1950–1980
Window 1
Early climate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5760720"/>
            <a:ext cx="3017520" cy="731520"/>
          </a:xfrm>
          <a:prstGeom prst="rect">
            <a:avLst/>
          </a:prstGeom>
          <a:solidFill>
            <a:srgbClr val="27976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58064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1965–1995
Window N/2
Mid climate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5760720"/>
            <a:ext cx="3017520" cy="731520"/>
          </a:xfrm>
          <a:prstGeom prst="rect">
            <a:avLst/>
          </a:prstGeom>
          <a:solidFill>
            <a:srgbClr val="E74C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58064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1995–2025
Window M
Recent climate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5989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989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08C00"/>
                </a:solidFill>
              </a:rPr>
              <a:t>Trend in 100-year extremes  →  trend in design loads  →  climate-driven structural risk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Next Steps and Open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11430000" cy="0"/>
          </a:xfrm>
          <a:prstGeom prst="line">
            <a:avLst/>
          </a:prstGeom>
          <a:ln w="15240">
            <a:solidFill>
              <a:srgbClr val="1A6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05156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This week — complete the replication baseline: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Run all 40 OpenFAST simulations (currently code is ready, caching in place)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Apply Gumbel and ACER to all 3 channels × 4 ECs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Reproduce Gumbel probability paper plots and ACER convergence plots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Compare extreme value estimates against Chai et al. Tables 12–14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Safety check (Section 7 of paper):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Mooring: max tension &lt; 13,372 kN  (60% MBS of 22,286 kN, API-RP-2SK)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Tower shear: max &lt; 1.59×10⁵ kN   (Eurocode 3, S355 steel)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Tower moment: max &lt; 1.08×10⁶ kN·m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Extend to all 6 ERA5 buoy locations (M1–M6):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Compare how Irish Sea vs Northern North Sea conditions shift extreme loads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Scale up to paper methodology: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Increase N_REAL from 10 → 50 realizations per EC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Run 4 ECs in parallel on 4 CPU cores to reduce wall-clock time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FFFFFF"/>
                </a:solidFill>
              </a:rPr>
              <a:t>  • Begin climate extension: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D0E8F5"/>
                </a:solidFill>
              </a:rPr>
              <a:t>   Download full ERA5 to 2025, build sliding-window contour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51560"/>
            <a:ext cx="4663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Open questions for supervisor: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1)  Primary region first: Irish Sea (our ERA5 locations) or replicate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 Johannessen's Northern North Sea exactly before extending?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2)  Carry both 10 m (paper-consistent) AND 100 m extrapolation as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 formal sensitivity from the start, or just 10 m baseline?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3)  Window strategy for climate extension: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 30-year rolling windows (standard climate normal) vs decadal blocks?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8AACC"/>
                </a:solidFill>
              </a:rPr>
              <a:t>  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4)  How many OpenFAST runs per window are feasible?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D0E8F5"/>
                </a:solidFill>
              </a:rPr>
              <a:t>    Even 10 realizations × 4 ECs × 46 windows = 1840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