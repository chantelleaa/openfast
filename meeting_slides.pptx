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14600"/>
            <a:ext cx="9144000" cy="20574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>
                <a:solidFill>
                  <a:srgbClr val="FFFFFF"/>
                </a:solidFill>
              </a:rPr>
              <a:t>ERA5-Based Extreme Wind &amp; Wave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BCCDD"/>
                </a:solidFill>
              </a:rPr>
              <a:t>Preliminary Pipeline: Hub-Height Extrapolation, Sensitivity Analysis
&amp; Extreme-Value Methods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334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</a:rPr>
              <a:t>PhD Supervisor Meeting  ·  March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54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DDEE"/>
                </a:solidFill>
              </a:rPr>
              <a:t>Data: ERA5 reanalysis (1950–1975 subset)  ·  Target: IEA 15 MW, Northern North Sea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86A1A"/>
                </a:solidFill>
              </a:rPr>
              <a:t>Preliminary results — incomplete ERA5 subset, not final thesis values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3444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91440"/>
            <a:ext cx="8686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Objective &amp; Current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13232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BCCDD"/>
                </a:solidFill>
              </a:rPr>
              <a:t>Replication target + ERA5 wind-and-wave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84124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6DA4"/>
                </a:solidFill>
              </a:rPr>
              <a:t>Why this work?</a:t>
            </a:r>
          </a:p>
          <a:p>
            <a:r>
              <a:rPr sz="1400">
                <a:solidFill>
                  <a:srgbClr val="222222"/>
                </a:solidFill>
              </a:rPr>
              <a:t>• Replication target: Chai et al. (2024) — short-term extreme structural responses for the IEA 15 MW turbine under extreme environmental conditions</a:t>
            </a:r>
          </a:p>
          <a:p>
            <a:r>
              <a:rPr sz="1400">
                <a:solidFill>
                  <a:srgbClr val="222222"/>
                </a:solidFill>
              </a:rPr>
              <a:t>• In parallel: building an ERA5 climate-data pipeline to replace stationary environmental conditions with time-evolving ERA5 statistics</a:t>
            </a:r>
          </a:p>
          <a:p>
            <a:r>
              <a:rPr sz="1400">
                <a:solidFill>
                  <a:srgbClr val="222222"/>
                </a:solidFill>
              </a:rPr>
              <a:t>• Goal: quantify how environmental extremes (and downstream structural extremes) shift across the ERA5 record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218688"/>
            <a:ext cx="8412480" cy="36576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3337560"/>
            <a:ext cx="84124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6DA4"/>
                </a:solidFill>
              </a:rPr>
              <a:t>Current status</a:t>
            </a:r>
          </a:p>
          <a:p>
            <a:r>
              <a:rPr sz="1400">
                <a:solidFill>
                  <a:srgbClr val="222222"/>
                </a:solidFill>
              </a:rPr>
              <a:t>• ERA5 subset processed: 1950-01-01 → 1975-06-30  (~25.5 years, 306 monthly files)</a:t>
            </a:r>
          </a:p>
          <a:p>
            <a:r>
              <a:rPr sz="1400">
                <a:solidFill>
                  <a:srgbClr val="222222"/>
                </a:solidFill>
              </a:rPr>
              <a:t>• Wind variables: u10, v10, u100, v100  (all levels available)</a:t>
            </a:r>
          </a:p>
          <a:p>
            <a:r>
              <a:rPr sz="1400">
                <a:solidFill>
                  <a:srgbClr val="222222"/>
                </a:solidFill>
              </a:rPr>
              <a:t>• Wave variables: Hs (significant wave height), Tp (peak period) — confirmed present in downloaded files</a:t>
            </a:r>
          </a:p>
          <a:p>
            <a:r>
              <a:rPr sz="1400">
                <a:solidFill>
                  <a:srgbClr val="222222"/>
                </a:solidFill>
              </a:rPr>
              <a:t>• ERA5 files are ZIP containers with two inner NetCDFs; reader updated to merge both streams</a:t>
            </a:r>
          </a:p>
          <a:p>
            <a:r>
              <a:rPr sz="1400">
                <a:solidFill>
                  <a:srgbClr val="222222"/>
                </a:solidFill>
              </a:rPr>
              <a:t>• Today's demo: dual-path hub-height extrapolation + five extreme-value methods on real ERA5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6751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</a:rPr>
              <a:t>PhD Supervisor Meeting  |  March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3444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91440"/>
            <a:ext cx="8686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Wave Data Was Already Downloaded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13232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BCCDD"/>
                </a:solidFill>
              </a:rPr>
              <a:t>The issue was in the reader, not the downloader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3931920" cy="3749039"/>
          </a:xfrm>
          <a:prstGeom prst="rect">
            <a:avLst/>
          </a:prstGeom>
          <a:solidFill>
            <a:srgbClr val="EBF3FB"/>
          </a:solidFill>
          <a:ln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44475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375E"/>
                </a:solidFill>
              </a:rPr>
              <a:t>File structure discovered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74519"/>
            <a:ext cx="3703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375E"/>
                </a:solidFill>
              </a:rPr>
              <a:t>era5_sl_YYYY_MM.nc  (ZIP container)
  ├─ data_stream-oper_stepType-instant.nc
  │     u10, v10, u100, v100
  └─ data_stream-wave_stepType-instant.nc
        Hs (swh),  Tp (pp1d)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70332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</a:rPr>
              <a:t>download_era5.py was always requesting: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023360"/>
            <a:ext cx="3703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22222"/>
                </a:solidFill>
              </a:rPr>
              <a:t>• significant_height_of_combined_wind_waves_and_swell</a:t>
            </a:r>
          </a:p>
          <a:p>
            <a:r>
              <a:rPr sz="1200">
                <a:solidFill>
                  <a:srgbClr val="222222"/>
                </a:solidFill>
              </a:rPr>
              <a:t>• peak_wave_period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1371600"/>
            <a:ext cx="4434840" cy="3749039"/>
          </a:xfrm>
          <a:prstGeom prst="rect">
            <a:avLst/>
          </a:prstGeom>
          <a:solidFill>
            <a:srgbClr val="FFF4EA"/>
          </a:solidFill>
          <a:ln>
            <a:solidFill>
              <a:srgbClr val="E86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444752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A1A"/>
                </a:solidFill>
              </a:rPr>
              <a:t>Fix applied to analysis scripts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1874519"/>
            <a:ext cx="4206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22222"/>
                </a:solidFill>
              </a:rPr>
              <a:t>• quick_demo_extremes.py: now opens both inner NetCDFs and merges wind + wave streams</a:t>
            </a:r>
          </a:p>
          <a:p>
            <a:r>
              <a:rPr sz="1300">
                <a:solidFill>
                  <a:srgbClr val="222222"/>
                </a:solidFill>
              </a:rPr>
              <a:t>• compare_extreme_methods.py: updated to ingest the merged dataset</a:t>
            </a:r>
          </a:p>
          <a:p>
            <a:r>
              <a:rPr sz="1300">
                <a:solidFill>
                  <a:srgbClr val="222222"/>
                </a:solidFill>
              </a:rPr>
              <a:t>• Wave variables (Hs, Tp) available for joint model as soon as full ERA5 period is downloaded</a:t>
            </a:r>
          </a:p>
          <a:p>
            <a:r>
              <a:rPr sz="1300">
                <a:solidFill>
                  <a:srgbClr val="222222"/>
                </a:solidFill>
              </a:rPr>
              <a:t>• No re-downloading needed — data was already correct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257800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6DA4"/>
                </a:solidFill>
              </a:rPr>
              <a:t>Next: use Hs and Tp to build the joint wind-wave environmental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66751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</a:rPr>
              <a:t>PhD Supervisor Meeting  |  March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3444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91440"/>
            <a:ext cx="8686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Hub-Height Conversion — Two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13232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BCCDD"/>
                </a:solidFill>
              </a:rPr>
              <a:t>Paper-consistent baseline (10 m) vs. ERA5 sensitivity check (100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4023360" cy="2331720"/>
          </a:xfrm>
          <a:prstGeom prst="rect">
            <a:avLst/>
          </a:prstGeom>
          <a:solidFill>
            <a:srgbClr val="EBF3FB"/>
          </a:solidFill>
          <a:ln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43560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375E"/>
                </a:solidFill>
              </a:rPr>
              <a:t>Path A — from 10 m  (paper baseline)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47088"/>
            <a:ext cx="37490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375E"/>
                </a:solidFill>
              </a:rPr>
              <a:t>U_hub,10(1h) = U₁₀ × (150/10)^α
V_hub(10min) = 1.10 × U_hub,10(1h)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78608"/>
            <a:ext cx="374903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22222"/>
                </a:solidFill>
              </a:rPr>
              <a:t>• α = 0.11 (IEC power-law, Chai et al. 2024)</a:t>
            </a:r>
          </a:p>
          <a:p>
            <a:r>
              <a:rPr sz="1200">
                <a:solidFill>
                  <a:srgbClr val="222222"/>
                </a:solidFill>
              </a:rPr>
              <a:t>• 10 m is the environmental wind reference height in the paper</a:t>
            </a:r>
          </a:p>
          <a:p>
            <a:r>
              <a:rPr sz="1200">
                <a:solidFill>
                  <a:srgbClr val="222222"/>
                </a:solidFill>
              </a:rPr>
              <a:t>• Large vertical extrapolation: 10 m → 150 m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371600"/>
            <a:ext cx="4023360" cy="2331720"/>
          </a:xfrm>
          <a:prstGeom prst="rect">
            <a:avLst/>
          </a:prstGeom>
          <a:solidFill>
            <a:srgbClr val="FFF4EA"/>
          </a:solidFill>
          <a:ln>
            <a:solidFill>
              <a:srgbClr val="E86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143560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A1A"/>
                </a:solidFill>
              </a:rPr>
              <a:t>Path B — from 100 m  (sensitivity check)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1847088"/>
            <a:ext cx="37490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A1A"/>
                </a:solidFill>
              </a:rPr>
              <a:t>U_hub,100(1h) = U₁₀₀ × (150/100)^α
V_hub(10min) = 1.10 × U_hub,100(1h)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578608"/>
            <a:ext cx="374903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22222"/>
                </a:solidFill>
              </a:rPr>
              <a:t>• Same α = 0.11; ERA5 provides 100 m wind directly</a:t>
            </a:r>
          </a:p>
          <a:p>
            <a:r>
              <a:rPr sz="1200">
                <a:solidFill>
                  <a:srgbClr val="222222"/>
                </a:solidFill>
              </a:rPr>
              <a:t>• Shorter extrapolation: 100 m → 150 m</a:t>
            </a:r>
          </a:p>
          <a:p>
            <a:r>
              <a:rPr sz="1200">
                <a:solidFill>
                  <a:srgbClr val="222222"/>
                </a:solidFill>
              </a:rPr>
              <a:t>• Sensitivity check on vertical shear assumption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840480"/>
            <a:ext cx="8321040" cy="1371600"/>
          </a:xfrm>
          <a:prstGeom prst="rect">
            <a:avLst/>
          </a:prstGeom>
          <a:solidFill>
            <a:srgbClr val="F0F5FF"/>
          </a:solidFill>
          <a:ln>
            <a:solidFill>
              <a:srgbClr val="1A37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913632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375E"/>
                </a:solidFill>
              </a:rPr>
              <a:t>Observed gap between the two paths (area-mean V_hub, 1950–1975 subset)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2976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</a:rPr>
              <a:t>Mean |Δ| (m/s)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59028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A375E"/>
                </a:solidFill>
              </a:rPr>
              <a:t>0.960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42976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</a:rPr>
              <a:t>Median |Δ| (m/s)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59028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A375E"/>
                </a:solidFill>
              </a:rPr>
              <a:t>0.969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2976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</a:rPr>
              <a:t>Max |Δ| (m/s)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59028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A375E"/>
                </a:solidFill>
              </a:rPr>
              <a:t>2.612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2976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</a:rPr>
              <a:t>Mean |Δ| (%)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59028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A375E"/>
                </a:solidFill>
              </a:rPr>
              <a:t>8.66%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5349240"/>
            <a:ext cx="8321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22222"/>
                </a:solidFill>
              </a:rPr>
              <a:t>• Gap is non-negligible (~9% mean) — choice of source height affects extrapolated return levels</a:t>
            </a:r>
          </a:p>
          <a:p>
            <a:r>
              <a:rPr sz="1300">
                <a:solidFill>
                  <a:srgbClr val="222222"/>
                </a:solidFill>
              </a:rPr>
              <a:t>• Path A (10 m) is used as the primary analysis to match the paper; Path B shown as sensitivity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0" y="66751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</a:rPr>
              <a:t>PhD Supervisor Meeting  |  March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3444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91440"/>
            <a:ext cx="8686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Hub-Height Wind Time Series — Both Extrapolation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13232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BCCDD"/>
                </a:solidFill>
              </a:rPr>
              <a:t>Area-mean V_hub (10-min), monthly maxima and annual maxima</a:t>
            </a:r>
          </a:p>
        </p:txBody>
      </p:sp>
      <p:pic>
        <p:nvPicPr>
          <p:cNvPr id="5" name="Picture 4" descr="fig_timeseries_vhub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8686800" cy="31588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5074920"/>
            <a:ext cx="8595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22222"/>
                </a:solidFill>
              </a:rPr>
              <a:t>• Two paths track each other closely through time — divergence visible in high-wind months</a:t>
            </a:r>
          </a:p>
          <a:p>
            <a:r>
              <a:rPr sz="1300">
                <a:solidFill>
                  <a:srgbClr val="222222"/>
                </a:solidFill>
              </a:rPr>
              <a:t>• Annual block-maxima (next figure) show 100 m path gives slightly higher annual maxima on average</a:t>
            </a:r>
          </a:p>
          <a:p>
            <a:r>
              <a:rPr sz="1300">
                <a:solidFill>
                  <a:srgbClr val="222222"/>
                </a:solidFill>
              </a:rPr>
              <a:t>• No obvious trend or discontinuity in this subset — block-maxima modeling is feasible</a:t>
            </a:r>
          </a:p>
          <a:p>
            <a:r>
              <a:rPr sz="1300">
                <a:solidFill>
                  <a:srgbClr val="222222"/>
                </a:solidFill>
              </a:rPr>
              <a:t>• 26 annual maxima → Gumbel/GEV estimates carry substantial uncertainty; longer record needed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6751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</a:rPr>
              <a:t>PhD Supervisor Meeting  |  March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3444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91440"/>
            <a:ext cx="8686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Annual Maxima &amp; Extrapolation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13232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BCCDD"/>
                </a:solidFill>
              </a:rPr>
              <a:t>Block-maxima inputs and sensitivity of hub-height wind to source level</a:t>
            </a:r>
          </a:p>
        </p:txBody>
      </p:sp>
      <p:pic>
        <p:nvPicPr>
          <p:cNvPr id="5" name="Picture 4" descr="fig_annual_maxima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4389120" cy="1950720"/>
          </a:xfrm>
          <a:prstGeom prst="rect">
            <a:avLst/>
          </a:prstGeom>
        </p:spPr>
      </p:pic>
      <p:pic>
        <p:nvPicPr>
          <p:cNvPr id="6" name="Picture 5" descr="fig_extrapolation_g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325880"/>
            <a:ext cx="4389120" cy="15960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28600" y="5120640"/>
            <a:ext cx="8686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22222"/>
                </a:solidFill>
              </a:rPr>
              <a:t>• Left: 100 m based path tends to give slightly higher annual maxima — consistent with smaller relative shear correction</a:t>
            </a:r>
          </a:p>
          <a:p>
            <a:r>
              <a:rPr sz="1300">
                <a:solidFill>
                  <a:srgbClr val="222222"/>
                </a:solidFill>
              </a:rPr>
              <a:t>• Right: monthly mean gap between the two paths; mostly positive (10 m path gives lower V_hub) with seasonal structure</a:t>
            </a:r>
          </a:p>
          <a:p>
            <a:r>
              <a:rPr sz="1300">
                <a:solidFill>
                  <a:srgbClr val="222222"/>
                </a:solidFill>
              </a:rPr>
              <a:t>• Seasonal structure in the gap implies the shear assumption is not neutral year-round</a:t>
            </a:r>
          </a:p>
          <a:p>
            <a:r>
              <a:rPr sz="1300">
                <a:solidFill>
                  <a:srgbClr val="222222"/>
                </a:solidFill>
              </a:rPr>
              <a:t>• This motivates eventually using a dynamic α from the u10/u100 pair rather than a fixed α = 0.11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6751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</a:rPr>
              <a:t>PhD Supervisor Meeting  |  March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3444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91440"/>
            <a:ext cx="8686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Five Extreme-Value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13232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BCCDD"/>
                </a:solidFill>
              </a:rPr>
              <a:t>Quantifying model-form uncertainty before committing to one 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371600"/>
            <a:ext cx="3474720" cy="603504"/>
          </a:xfrm>
          <a:prstGeom prst="rect">
            <a:avLst/>
          </a:prstGeom>
          <a:solidFill>
            <a:srgbClr val="EBF3FB"/>
          </a:solidFill>
          <a:ln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408176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375E"/>
                </a:solidFill>
              </a:rPr>
              <a:t>Gumbel (block maxima)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166420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</a:rPr>
              <a:t>Classical EVT; simple; used directly in Chai et al. 2024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2075688"/>
            <a:ext cx="3474720" cy="603504"/>
          </a:xfrm>
          <a:prstGeom prst="rect">
            <a:avLst/>
          </a:prstGeom>
          <a:solidFill>
            <a:srgbClr val="EBF3FB"/>
          </a:solidFill>
          <a:ln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2112264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375E"/>
                </a:solidFill>
              </a:rPr>
              <a:t>GEV (block maxima)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2368296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</a:rPr>
              <a:t>More flexible than Gumbel — shape parameter ξ free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779776"/>
            <a:ext cx="3474720" cy="603504"/>
          </a:xfrm>
          <a:prstGeom prst="rect">
            <a:avLst/>
          </a:prstGeom>
          <a:solidFill>
            <a:srgbClr val="EBF3FB"/>
          </a:solidFill>
          <a:ln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2816352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375E"/>
                </a:solidFill>
              </a:rPr>
              <a:t>POT / GPD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3072384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</a:rPr>
              <a:t>Threshold-based EVT; uses more data than annual maxima alone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483864"/>
            <a:ext cx="3474720" cy="603504"/>
          </a:xfrm>
          <a:prstGeom prst="rect">
            <a:avLst/>
          </a:prstGeom>
          <a:solidFill>
            <a:srgbClr val="EBF3FB"/>
          </a:solidFill>
          <a:ln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352044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375E"/>
                </a:solidFill>
              </a:rPr>
              <a:t>Weibull (block maxima)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3776472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</a:rPr>
              <a:t>Common engineering benchmark for positive wind/load variables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4187952"/>
            <a:ext cx="3474720" cy="603504"/>
          </a:xfrm>
          <a:prstGeom prst="rect">
            <a:avLst/>
          </a:prstGeom>
          <a:solidFill>
            <a:srgbClr val="EBF3FB"/>
          </a:solidFill>
          <a:ln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4224528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375E"/>
                </a:solidFill>
              </a:rPr>
              <a:t>Lognormal (block maxima)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" y="448056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</a:rPr>
              <a:t>Benchmark for positive-skewed variables</a:t>
            </a:r>
          </a:p>
        </p:txBody>
      </p:sp>
      <p:pic>
        <p:nvPicPr>
          <p:cNvPr id="20" name="Picture 19" descr="fig_pot_mr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1325880"/>
            <a:ext cx="5029200" cy="2514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886200" y="5559552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22222"/>
                </a:solidFill>
              </a:rPr>
              <a:t>• Mean residual life plot: near-linear mean excess above threshold → GPD tail is appropriate</a:t>
            </a:r>
          </a:p>
          <a:p>
            <a:r>
              <a:rPr sz="1200">
                <a:solidFill>
                  <a:srgbClr val="222222"/>
                </a:solidFill>
              </a:rPr>
              <a:t>• Threshold: q = 0.95 → 21.8 m/s;  602 declustered peaks used in GPD fit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66751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</a:rPr>
              <a:t>PhD Supervisor Meeting  |  March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3444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91440"/>
            <a:ext cx="8686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Return-Level Estimates — Both Paths, Five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13232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BCCDD"/>
                </a:solidFill>
              </a:rPr>
              <a:t>Area-mean V_hub (10-min), ERA5 1950–1975 subset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2478024" cy="420624"/>
          </a:xfrm>
          <a:prstGeom prst="rect">
            <a:avLst/>
          </a:prstGeom>
          <a:solidFill>
            <a:srgbClr val="1A375E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8328" y="1435608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1371600"/>
            <a:ext cx="1975104" cy="420624"/>
          </a:xfrm>
          <a:prstGeom prst="rect">
            <a:avLst/>
          </a:prstGeom>
          <a:solidFill>
            <a:srgbClr val="1A375E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98648" y="1435608"/>
            <a:ext cx="1874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50-yr RL 10m (m/s)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0" y="1371600"/>
            <a:ext cx="1975104" cy="420624"/>
          </a:xfrm>
          <a:prstGeom prst="rect">
            <a:avLst/>
          </a:prstGeom>
          <a:solidFill>
            <a:srgbClr val="1A375E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1768" y="1435608"/>
            <a:ext cx="1874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100-yr RL 10m (m/s)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0" y="1371600"/>
            <a:ext cx="1883664" cy="420624"/>
          </a:xfrm>
          <a:prstGeom prst="rect">
            <a:avLst/>
          </a:prstGeom>
          <a:solidFill>
            <a:srgbClr val="1A375E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04888" y="1435608"/>
            <a:ext cx="1783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100-yr RL 100m (m/s)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792224"/>
            <a:ext cx="2478024" cy="420624"/>
          </a:xfrm>
          <a:prstGeom prst="rect">
            <a:avLst/>
          </a:prstGeom>
          <a:solidFill>
            <a:srgbClr val="EBF3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" y="1856231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A1A"/>
                </a:solidFill>
              </a:rPr>
              <a:t>Gumbel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34640" y="1792224"/>
            <a:ext cx="1975104" cy="420624"/>
          </a:xfrm>
          <a:prstGeom prst="rect">
            <a:avLst/>
          </a:prstGeom>
          <a:solidFill>
            <a:srgbClr val="EBF3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98648" y="1856231"/>
            <a:ext cx="1874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A1A"/>
                </a:solidFill>
              </a:rPr>
              <a:t>35.30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60" y="1792224"/>
            <a:ext cx="1975104" cy="420624"/>
          </a:xfrm>
          <a:prstGeom prst="rect">
            <a:avLst/>
          </a:prstGeom>
          <a:solidFill>
            <a:srgbClr val="EBF3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1768" y="1856231"/>
            <a:ext cx="1874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A1A"/>
                </a:solidFill>
              </a:rPr>
              <a:t>36.31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1792224"/>
            <a:ext cx="1883664" cy="420624"/>
          </a:xfrm>
          <a:prstGeom prst="rect">
            <a:avLst/>
          </a:prstGeom>
          <a:solidFill>
            <a:srgbClr val="EBF3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04888" y="1856231"/>
            <a:ext cx="1783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A1A"/>
                </a:solidFill>
              </a:rPr>
              <a:t>36.68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212848"/>
            <a:ext cx="2478024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2276856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</a:rPr>
              <a:t>GEV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34640" y="2212848"/>
            <a:ext cx="1975104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98648" y="2276856"/>
            <a:ext cx="1874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</a:rPr>
              <a:t>32.74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37760" y="2212848"/>
            <a:ext cx="1975104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1768" y="2276856"/>
            <a:ext cx="1874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</a:rPr>
              <a:t>32.90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40880" y="2212848"/>
            <a:ext cx="1883664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04888" y="2276856"/>
            <a:ext cx="1783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</a:rPr>
              <a:t>33.31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2633472"/>
            <a:ext cx="2478024" cy="420624"/>
          </a:xfrm>
          <a:prstGeom prst="rect">
            <a:avLst/>
          </a:prstGeom>
          <a:solidFill>
            <a:srgbClr val="EBF3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8328" y="2697479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</a:rPr>
              <a:t>Weibull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34640" y="2633472"/>
            <a:ext cx="1975104" cy="420624"/>
          </a:xfrm>
          <a:prstGeom prst="rect">
            <a:avLst/>
          </a:prstGeom>
          <a:solidFill>
            <a:srgbClr val="EBF3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98648" y="2697479"/>
            <a:ext cx="1874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</a:rPr>
              <a:t>32.67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37760" y="2633472"/>
            <a:ext cx="1975104" cy="420624"/>
          </a:xfrm>
          <a:prstGeom prst="rect">
            <a:avLst/>
          </a:prstGeom>
          <a:solidFill>
            <a:srgbClr val="EBF3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1768" y="2697479"/>
            <a:ext cx="1874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</a:rPr>
              <a:t>32.88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40880" y="2633472"/>
            <a:ext cx="1883664" cy="420624"/>
          </a:xfrm>
          <a:prstGeom prst="rect">
            <a:avLst/>
          </a:prstGeom>
          <a:solidFill>
            <a:srgbClr val="EBF3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04888" y="2697479"/>
            <a:ext cx="1783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</a:rPr>
              <a:t>33.22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3054096"/>
            <a:ext cx="2478024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8328" y="3118103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</a:rPr>
              <a:t>Lognormal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34640" y="3054096"/>
            <a:ext cx="1975104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98648" y="3118103"/>
            <a:ext cx="1874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</a:rPr>
              <a:t>33.27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54096"/>
            <a:ext cx="1975104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01768" y="3118103"/>
            <a:ext cx="1874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</a:rPr>
              <a:t>33.68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40880" y="3054096"/>
            <a:ext cx="1883664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04888" y="3118103"/>
            <a:ext cx="1783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</a:rPr>
              <a:t>34.17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3474720"/>
            <a:ext cx="2478024" cy="420624"/>
          </a:xfrm>
          <a:prstGeom prst="rect">
            <a:avLst/>
          </a:prstGeom>
          <a:solidFill>
            <a:srgbClr val="EBF3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8328" y="3538727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</a:rPr>
              <a:t>POT / GPD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834640" y="3474720"/>
            <a:ext cx="1975104" cy="420624"/>
          </a:xfrm>
          <a:prstGeom prst="rect">
            <a:avLst/>
          </a:prstGeom>
          <a:solidFill>
            <a:srgbClr val="EBF3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898648" y="3538727"/>
            <a:ext cx="1874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</a:rPr>
              <a:t>32.91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37760" y="3474720"/>
            <a:ext cx="1975104" cy="420624"/>
          </a:xfrm>
          <a:prstGeom prst="rect">
            <a:avLst/>
          </a:prstGeom>
          <a:solidFill>
            <a:srgbClr val="EBF3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01768" y="3538727"/>
            <a:ext cx="1874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</a:rPr>
              <a:t>33.16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40880" y="3474720"/>
            <a:ext cx="1883664" cy="420624"/>
          </a:xfrm>
          <a:prstGeom prst="rect">
            <a:avLst/>
          </a:prstGeom>
          <a:solidFill>
            <a:srgbClr val="EBF3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04888" y="3538727"/>
            <a:ext cx="1783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</a:rPr>
              <a:t>34.40</a:t>
            </a:r>
          </a:p>
        </p:txBody>
      </p:sp>
      <p:pic>
        <p:nvPicPr>
          <p:cNvPr id="53" name="Picture 52" descr="fig_return_lev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895344"/>
            <a:ext cx="4114800" cy="2057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4526280" y="3895344"/>
            <a:ext cx="443484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6DA4"/>
                </a:solidFill>
              </a:rPr>
              <a:t>Key takeaway</a:t>
            </a:r>
          </a:p>
          <a:p>
            <a:r>
              <a:rPr sz="1300">
                <a:solidFill>
                  <a:srgbClr val="222222"/>
                </a:solidFill>
              </a:rPr>
              <a:t>• Gumbel is most conservative (~36.3 m/s from 10m, ~36.7 m/s from 100m)</a:t>
            </a:r>
          </a:p>
          <a:p>
            <a:r>
              <a:rPr sz="1300">
                <a:solidFill>
                  <a:srgbClr val="222222"/>
                </a:solidFill>
              </a:rPr>
              <a:t>• All other methods cluster near 33–34 m/s — spread quantifies model-form uncertainty</a:t>
            </a:r>
          </a:p>
          <a:p>
            <a:r>
              <a:rPr sz="1300">
                <a:solidFill>
                  <a:srgbClr val="222222"/>
                </a:solidFill>
              </a:rPr>
              <a:t>• 100 m path gives consistently higher return levels than 10 m path (~0.4–1.2 m/s at 100 yr)</a:t>
            </a:r>
          </a:p>
          <a:p>
            <a:r>
              <a:rPr sz="1300">
                <a:solidFill>
                  <a:srgbClr val="222222"/>
                </a:solidFill>
              </a:rPr>
              <a:t>• Paper uses Gumbel + ACER; Gumbel is conservative and transparent for maxima-based extrapolation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6446520"/>
            <a:ext cx="8595360" cy="36576"/>
          </a:xfrm>
          <a:prstGeom prst="rect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4320" y="6492240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86A1A"/>
                </a:solidFill>
              </a:rPr>
              <a:t>Preliminary values from a 25.5-year subset — not final thesis results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0" y="66751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</a:rPr>
              <a:t>PhD Supervisor Meeting  |  March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3444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91440"/>
            <a:ext cx="8686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13232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BCCDD"/>
                </a:solidFill>
              </a:rPr>
              <a:t>Connecting ERA5 pipeline to paper replication and climate-change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4160520" cy="347472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08176"/>
            <a:ext cx="39776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Phase 1–3: Data &amp; Environmental Contours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755648"/>
            <a:ext cx="4160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22222"/>
                </a:solidFill>
              </a:rPr>
              <a:t>• Complete ERA5 download to full target period</a:t>
            </a:r>
          </a:p>
          <a:p>
            <a:r>
              <a:rPr sz="1200">
                <a:solidFill>
                  <a:srgbClr val="222222"/>
                </a:solidFill>
              </a:rPr>
              <a:t>• Build Hs and Tp time series from the now-readable wave stream</a:t>
            </a:r>
          </a:p>
          <a:p>
            <a:r>
              <a:rPr sz="1200">
                <a:solidFill>
                  <a:srgbClr val="222222"/>
                </a:solidFill>
              </a:rPr>
              <a:t>• Fit joint environmental model: f(Uw) · f(Hs|Uw) · f(Tp|Hs, Uw)</a:t>
            </a:r>
          </a:p>
          <a:p>
            <a:r>
              <a:rPr sz="1200">
                <a:solidFill>
                  <a:srgbClr val="222222"/>
                </a:solidFill>
              </a:rPr>
              <a:t>• Generate 100-year IFORM contours + EC selection points</a:t>
            </a:r>
          </a:p>
          <a:p>
            <a:r>
              <a:rPr sz="1200">
                <a:solidFill>
                  <a:srgbClr val="222222"/>
                </a:solidFill>
              </a:rPr>
              <a:t>• Compare contour shapes/magnitudes against Chai et al. 2024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371600"/>
            <a:ext cx="4160520" cy="347472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408176"/>
            <a:ext cx="39776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Phase 4–6: OpenFAST, ACER &amp; Climate Trends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755648"/>
            <a:ext cx="4160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22222"/>
                </a:solidFill>
              </a:rPr>
              <a:t>• Set up OpenFAST batch runs for selected environmental conditions</a:t>
            </a:r>
          </a:p>
          <a:p>
            <a:r>
              <a:rPr sz="1200">
                <a:solidFill>
                  <a:srgbClr val="222222"/>
                </a:solidFill>
              </a:rPr>
              <a:t>• Extract response channels: mooring tensions, TwrBsFyt, TwrBsMxt</a:t>
            </a:r>
          </a:p>
          <a:p>
            <a:r>
              <a:rPr sz="1200">
                <a:solidFill>
                  <a:srgbClr val="222222"/>
                </a:solidFill>
              </a:rPr>
              <a:t>• Reproduce Gumbel and ACER extreme estimation on response peaks</a:t>
            </a:r>
          </a:p>
          <a:p>
            <a:r>
              <a:rPr sz="1200">
                <a:solidFill>
                  <a:srgbClr val="222222"/>
                </a:solidFill>
              </a:rPr>
              <a:t>• Split ERA5 into moving windows → nonstationary return-level trends</a:t>
            </a:r>
          </a:p>
          <a:p>
            <a:r>
              <a:rPr sz="1200">
                <a:solidFill>
                  <a:srgbClr val="222222"/>
                </a:solidFill>
              </a:rPr>
              <a:t>• Quantify change in environmental and structural extremes over ERA5 record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4645152"/>
            <a:ext cx="8595360" cy="36576"/>
          </a:xfrm>
          <a:prstGeom prst="rect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4736592"/>
            <a:ext cx="859536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6A1A"/>
                </a:solidFill>
              </a:rPr>
              <a:t>Questions for supervisor</a:t>
            </a:r>
          </a:p>
          <a:p>
            <a:r>
              <a:rPr sz="1300">
                <a:solidFill>
                  <a:srgbClr val="222222"/>
                </a:solidFill>
              </a:rPr>
              <a:t>• Should the primary study area stay strictly northern North Sea before extending to Ireland/Atlantic?</a:t>
            </a:r>
          </a:p>
          <a:p>
            <a:r>
              <a:rPr sz="1300">
                <a:solidFill>
                  <a:srgbClr val="222222"/>
                </a:solidFill>
              </a:rPr>
              <a:t>• First full replication: preserve paper assumptions exactly, then add sensitivity — or include sensitivity immediately?</a:t>
            </a:r>
          </a:p>
          <a:p>
            <a:r>
              <a:rPr sz="1300">
                <a:solidFill>
                  <a:srgbClr val="222222"/>
                </a:solidFill>
              </a:rPr>
              <a:t>• Dynamic α (from u10/u100 pair) as standard baseline, or as a later sensitivity test only?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66751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</a:rPr>
              <a:t>PhD Supervisor Meeting  |  March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